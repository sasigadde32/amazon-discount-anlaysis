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59"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0" d="100"/>
          <a:sy n="70" d="100"/>
        </p:scale>
        <p:origin x="283" y="2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diagrams/_rels/data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4" Type="http://schemas.openxmlformats.org/officeDocument/2006/relationships/image" Target="../media/image4.svg"/></Relationships>
</file>

<file path=ppt/diagrams/_rels/data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ata3.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10" Type="http://schemas.openxmlformats.org/officeDocument/2006/relationships/image" Target="../media/image20.svg"/><Relationship Id="rId4" Type="http://schemas.openxmlformats.org/officeDocument/2006/relationships/image" Target="../media/image14.svg"/><Relationship Id="rId9" Type="http://schemas.openxmlformats.org/officeDocument/2006/relationships/image" Target="../media/image19.png"/></Relationships>
</file>

<file path=ppt/diagrams/_rels/data4.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svg"/><Relationship Id="rId1" Type="http://schemas.openxmlformats.org/officeDocument/2006/relationships/image" Target="../media/image22.png"/><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svg"/></Relationships>
</file>

<file path=ppt/diagrams/_rels/data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svg"/><Relationship Id="rId1" Type="http://schemas.openxmlformats.org/officeDocument/2006/relationships/image" Target="../media/image32.png"/><Relationship Id="rId6" Type="http://schemas.openxmlformats.org/officeDocument/2006/relationships/image" Target="../media/image37.svg"/><Relationship Id="rId5" Type="http://schemas.openxmlformats.org/officeDocument/2006/relationships/image" Target="../media/image36.png"/><Relationship Id="rId4" Type="http://schemas.openxmlformats.org/officeDocument/2006/relationships/image" Target="../media/image3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4" Type="http://schemas.openxmlformats.org/officeDocument/2006/relationships/image" Target="../media/image4.svg"/></Relationships>
</file>

<file path=ppt/diagrams/_rels/drawing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rawing3.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10" Type="http://schemas.openxmlformats.org/officeDocument/2006/relationships/image" Target="../media/image20.svg"/><Relationship Id="rId4" Type="http://schemas.openxmlformats.org/officeDocument/2006/relationships/image" Target="../media/image14.svg"/><Relationship Id="rId9" Type="http://schemas.openxmlformats.org/officeDocument/2006/relationships/image" Target="../media/image19.png"/></Relationships>
</file>

<file path=ppt/diagrams/_rels/drawing4.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svg"/><Relationship Id="rId1" Type="http://schemas.openxmlformats.org/officeDocument/2006/relationships/image" Target="../media/image22.png"/><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svg"/></Relationships>
</file>

<file path=ppt/diagrams/_rels/drawing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svg"/><Relationship Id="rId1" Type="http://schemas.openxmlformats.org/officeDocument/2006/relationships/image" Target="../media/image32.png"/><Relationship Id="rId6" Type="http://schemas.openxmlformats.org/officeDocument/2006/relationships/image" Target="../media/image37.svg"/><Relationship Id="rId5" Type="http://schemas.openxmlformats.org/officeDocument/2006/relationships/image" Target="../media/image36.png"/><Relationship Id="rId4" Type="http://schemas.openxmlformats.org/officeDocument/2006/relationships/image" Target="../media/image35.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a:alpha val="0"/>
      </a:schemeClr>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a:alpha val="0"/>
      </a:schemeClr>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A935FAA-F627-4492-9072-574420F3DB90}"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D6B5B973-CDDD-4F65-8506-D4B144DA61FD}">
      <dgm:prSet/>
      <dgm:spPr/>
      <dgm:t>
        <a:bodyPr/>
        <a:lstStyle/>
        <a:p>
          <a:pPr>
            <a:lnSpc>
              <a:spcPct val="100000"/>
            </a:lnSpc>
            <a:defRPr cap="all"/>
          </a:pPr>
          <a:r>
            <a:rPr lang="en-AU"/>
            <a:t>Discounts margins and Profit margins are directly related.</a:t>
          </a:r>
          <a:endParaRPr lang="en-US"/>
        </a:p>
      </dgm:t>
    </dgm:pt>
    <dgm:pt modelId="{931BDE0F-3769-4886-B87A-2FAFE178D129}" type="parTrans" cxnId="{91718253-18F5-4CEC-A49A-3036B4C346E1}">
      <dgm:prSet/>
      <dgm:spPr/>
      <dgm:t>
        <a:bodyPr/>
        <a:lstStyle/>
        <a:p>
          <a:endParaRPr lang="en-US"/>
        </a:p>
      </dgm:t>
    </dgm:pt>
    <dgm:pt modelId="{9ED67F19-1459-4D4E-A7FA-53A459EBC8AD}" type="sibTrans" cxnId="{91718253-18F5-4CEC-A49A-3036B4C346E1}">
      <dgm:prSet/>
      <dgm:spPr/>
      <dgm:t>
        <a:bodyPr/>
        <a:lstStyle/>
        <a:p>
          <a:endParaRPr lang="en-US"/>
        </a:p>
      </dgm:t>
    </dgm:pt>
    <dgm:pt modelId="{6A0B1A6A-E3B2-46C9-A656-8BA6277D97B8}">
      <dgm:prSet/>
      <dgm:spPr/>
      <dgm:t>
        <a:bodyPr/>
        <a:lstStyle/>
        <a:p>
          <a:pPr>
            <a:lnSpc>
              <a:spcPct val="100000"/>
            </a:lnSpc>
            <a:defRPr cap="all"/>
          </a:pPr>
          <a:r>
            <a:rPr lang="en-AU"/>
            <a:t>Maximum discount availed is 30%.</a:t>
          </a:r>
          <a:endParaRPr lang="en-US"/>
        </a:p>
      </dgm:t>
    </dgm:pt>
    <dgm:pt modelId="{EB153436-DA67-49FA-9139-1D1E93ADCA01}" type="parTrans" cxnId="{21A9CC35-D93A-4834-A22A-4678D264EA92}">
      <dgm:prSet/>
      <dgm:spPr/>
      <dgm:t>
        <a:bodyPr/>
        <a:lstStyle/>
        <a:p>
          <a:endParaRPr lang="en-US"/>
        </a:p>
      </dgm:t>
    </dgm:pt>
    <dgm:pt modelId="{DE3A5017-D0E0-4B08-9BDB-AFECCEBA400B}" type="sibTrans" cxnId="{21A9CC35-D93A-4834-A22A-4678D264EA92}">
      <dgm:prSet/>
      <dgm:spPr/>
      <dgm:t>
        <a:bodyPr/>
        <a:lstStyle/>
        <a:p>
          <a:endParaRPr lang="en-US"/>
        </a:p>
      </dgm:t>
    </dgm:pt>
    <dgm:pt modelId="{9178EA9E-D7D0-47D5-99BD-1EC3753E65CB}" type="pres">
      <dgm:prSet presAssocID="{CA935FAA-F627-4492-9072-574420F3DB90}" presName="root" presStyleCnt="0">
        <dgm:presLayoutVars>
          <dgm:dir/>
          <dgm:resizeHandles val="exact"/>
        </dgm:presLayoutVars>
      </dgm:prSet>
      <dgm:spPr/>
    </dgm:pt>
    <dgm:pt modelId="{4B72710A-D877-401F-84DF-E43AC2D05B35}" type="pres">
      <dgm:prSet presAssocID="{D6B5B973-CDDD-4F65-8506-D4B144DA61FD}" presName="compNode" presStyleCnt="0"/>
      <dgm:spPr/>
    </dgm:pt>
    <dgm:pt modelId="{CD7B45A7-4D8D-4010-9014-C19F923C5CB0}" type="pres">
      <dgm:prSet presAssocID="{D6B5B973-CDDD-4F65-8506-D4B144DA61FD}" presName="iconBgRect" presStyleLbl="bgShp" presStyleIdx="0" presStyleCnt="2"/>
      <dgm:spPr/>
    </dgm:pt>
    <dgm:pt modelId="{937B0365-44B2-4509-95BA-03D8CE66E578}" type="pres">
      <dgm:prSet presAssocID="{D6B5B973-CDDD-4F65-8506-D4B144DA61FD}"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Rupee"/>
        </a:ext>
      </dgm:extLst>
    </dgm:pt>
    <dgm:pt modelId="{FDC58303-623E-451F-B6B7-58AFFF577AE1}" type="pres">
      <dgm:prSet presAssocID="{D6B5B973-CDDD-4F65-8506-D4B144DA61FD}" presName="spaceRect" presStyleCnt="0"/>
      <dgm:spPr/>
    </dgm:pt>
    <dgm:pt modelId="{FBB60365-961D-4F52-93CD-A979F8EC9F8E}" type="pres">
      <dgm:prSet presAssocID="{D6B5B973-CDDD-4F65-8506-D4B144DA61FD}" presName="textRect" presStyleLbl="revTx" presStyleIdx="0" presStyleCnt="2">
        <dgm:presLayoutVars>
          <dgm:chMax val="1"/>
          <dgm:chPref val="1"/>
        </dgm:presLayoutVars>
      </dgm:prSet>
      <dgm:spPr/>
    </dgm:pt>
    <dgm:pt modelId="{06FF1375-9111-470B-B445-CD4717537F79}" type="pres">
      <dgm:prSet presAssocID="{9ED67F19-1459-4D4E-A7FA-53A459EBC8AD}" presName="sibTrans" presStyleCnt="0"/>
      <dgm:spPr/>
    </dgm:pt>
    <dgm:pt modelId="{7DE2B482-89F9-450E-BE03-905E125CE70B}" type="pres">
      <dgm:prSet presAssocID="{6A0B1A6A-E3B2-46C9-A656-8BA6277D97B8}" presName="compNode" presStyleCnt="0"/>
      <dgm:spPr/>
    </dgm:pt>
    <dgm:pt modelId="{7193E7AB-4AA7-4271-B132-BA35D10F915D}" type="pres">
      <dgm:prSet presAssocID="{6A0B1A6A-E3B2-46C9-A656-8BA6277D97B8}" presName="iconBgRect" presStyleLbl="bgShp" presStyleIdx="1" presStyleCnt="2"/>
      <dgm:spPr/>
    </dgm:pt>
    <dgm:pt modelId="{772340C2-D747-4D62-AF20-9A01295E7EE9}" type="pres">
      <dgm:prSet presAssocID="{6A0B1A6A-E3B2-46C9-A656-8BA6277D97B8}"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Yuan"/>
        </a:ext>
      </dgm:extLst>
    </dgm:pt>
    <dgm:pt modelId="{339FB22C-C76B-4770-9719-60D09947E9C7}" type="pres">
      <dgm:prSet presAssocID="{6A0B1A6A-E3B2-46C9-A656-8BA6277D97B8}" presName="spaceRect" presStyleCnt="0"/>
      <dgm:spPr/>
    </dgm:pt>
    <dgm:pt modelId="{2A8C41C9-27FD-4EC9-A48F-5010ABE8E4FE}" type="pres">
      <dgm:prSet presAssocID="{6A0B1A6A-E3B2-46C9-A656-8BA6277D97B8}" presName="textRect" presStyleLbl="revTx" presStyleIdx="1" presStyleCnt="2">
        <dgm:presLayoutVars>
          <dgm:chMax val="1"/>
          <dgm:chPref val="1"/>
        </dgm:presLayoutVars>
      </dgm:prSet>
      <dgm:spPr/>
    </dgm:pt>
  </dgm:ptLst>
  <dgm:cxnLst>
    <dgm:cxn modelId="{21A9CC35-D93A-4834-A22A-4678D264EA92}" srcId="{CA935FAA-F627-4492-9072-574420F3DB90}" destId="{6A0B1A6A-E3B2-46C9-A656-8BA6277D97B8}" srcOrd="1" destOrd="0" parTransId="{EB153436-DA67-49FA-9139-1D1E93ADCA01}" sibTransId="{DE3A5017-D0E0-4B08-9BDB-AFECCEBA400B}"/>
    <dgm:cxn modelId="{4C72673D-58A1-4146-9705-7BDA184881E4}" type="presOf" srcId="{D6B5B973-CDDD-4F65-8506-D4B144DA61FD}" destId="{FBB60365-961D-4F52-93CD-A979F8EC9F8E}" srcOrd="0" destOrd="0" presId="urn:microsoft.com/office/officeart/2018/5/layout/IconCircleLabelList"/>
    <dgm:cxn modelId="{91718253-18F5-4CEC-A49A-3036B4C346E1}" srcId="{CA935FAA-F627-4492-9072-574420F3DB90}" destId="{D6B5B973-CDDD-4F65-8506-D4B144DA61FD}" srcOrd="0" destOrd="0" parTransId="{931BDE0F-3769-4886-B87A-2FAFE178D129}" sibTransId="{9ED67F19-1459-4D4E-A7FA-53A459EBC8AD}"/>
    <dgm:cxn modelId="{5DB329AB-BA01-4125-92A4-14862A1A8755}" type="presOf" srcId="{6A0B1A6A-E3B2-46C9-A656-8BA6277D97B8}" destId="{2A8C41C9-27FD-4EC9-A48F-5010ABE8E4FE}" srcOrd="0" destOrd="0" presId="urn:microsoft.com/office/officeart/2018/5/layout/IconCircleLabelList"/>
    <dgm:cxn modelId="{A24A46C8-7F54-458C-A2EB-DA8342EE2739}" type="presOf" srcId="{CA935FAA-F627-4492-9072-574420F3DB90}" destId="{9178EA9E-D7D0-47D5-99BD-1EC3753E65CB}" srcOrd="0" destOrd="0" presId="urn:microsoft.com/office/officeart/2018/5/layout/IconCircleLabelList"/>
    <dgm:cxn modelId="{F6A67BAB-7780-49DD-9489-0DA620FEAC2A}" type="presParOf" srcId="{9178EA9E-D7D0-47D5-99BD-1EC3753E65CB}" destId="{4B72710A-D877-401F-84DF-E43AC2D05B35}" srcOrd="0" destOrd="0" presId="urn:microsoft.com/office/officeart/2018/5/layout/IconCircleLabelList"/>
    <dgm:cxn modelId="{5889C6A1-55EB-4F34-9351-5C8676105BEF}" type="presParOf" srcId="{4B72710A-D877-401F-84DF-E43AC2D05B35}" destId="{CD7B45A7-4D8D-4010-9014-C19F923C5CB0}" srcOrd="0" destOrd="0" presId="urn:microsoft.com/office/officeart/2018/5/layout/IconCircleLabelList"/>
    <dgm:cxn modelId="{845CABC3-FB96-4E6D-8096-5F10FEE2B53C}" type="presParOf" srcId="{4B72710A-D877-401F-84DF-E43AC2D05B35}" destId="{937B0365-44B2-4509-95BA-03D8CE66E578}" srcOrd="1" destOrd="0" presId="urn:microsoft.com/office/officeart/2018/5/layout/IconCircleLabelList"/>
    <dgm:cxn modelId="{DAE2D59E-0784-44EF-A1C9-635E900BDC62}" type="presParOf" srcId="{4B72710A-D877-401F-84DF-E43AC2D05B35}" destId="{FDC58303-623E-451F-B6B7-58AFFF577AE1}" srcOrd="2" destOrd="0" presId="urn:microsoft.com/office/officeart/2018/5/layout/IconCircleLabelList"/>
    <dgm:cxn modelId="{77791AE1-B566-4307-95BE-ECA3E1F483B4}" type="presParOf" srcId="{4B72710A-D877-401F-84DF-E43AC2D05B35}" destId="{FBB60365-961D-4F52-93CD-A979F8EC9F8E}" srcOrd="3" destOrd="0" presId="urn:microsoft.com/office/officeart/2018/5/layout/IconCircleLabelList"/>
    <dgm:cxn modelId="{1EFC8C85-C3C9-48BA-B723-4CB00541A8BC}" type="presParOf" srcId="{9178EA9E-D7D0-47D5-99BD-1EC3753E65CB}" destId="{06FF1375-9111-470B-B445-CD4717537F79}" srcOrd="1" destOrd="0" presId="urn:microsoft.com/office/officeart/2018/5/layout/IconCircleLabelList"/>
    <dgm:cxn modelId="{A30FDE6C-A3A4-48B8-8577-CA92BF04F48F}" type="presParOf" srcId="{9178EA9E-D7D0-47D5-99BD-1EC3753E65CB}" destId="{7DE2B482-89F9-450E-BE03-905E125CE70B}" srcOrd="2" destOrd="0" presId="urn:microsoft.com/office/officeart/2018/5/layout/IconCircleLabelList"/>
    <dgm:cxn modelId="{20D24C9A-A25E-44E3-A664-8F664AF1D354}" type="presParOf" srcId="{7DE2B482-89F9-450E-BE03-905E125CE70B}" destId="{7193E7AB-4AA7-4271-B132-BA35D10F915D}" srcOrd="0" destOrd="0" presId="urn:microsoft.com/office/officeart/2018/5/layout/IconCircleLabelList"/>
    <dgm:cxn modelId="{271E5B75-6F5C-4791-B61D-CE2EDE6D420A}" type="presParOf" srcId="{7DE2B482-89F9-450E-BE03-905E125CE70B}" destId="{772340C2-D747-4D62-AF20-9A01295E7EE9}" srcOrd="1" destOrd="0" presId="urn:microsoft.com/office/officeart/2018/5/layout/IconCircleLabelList"/>
    <dgm:cxn modelId="{5E722A85-3474-4A04-81B6-2AB339F1C9F9}" type="presParOf" srcId="{7DE2B482-89F9-450E-BE03-905E125CE70B}" destId="{339FB22C-C76B-4770-9719-60D09947E9C7}" srcOrd="2" destOrd="0" presId="urn:microsoft.com/office/officeart/2018/5/layout/IconCircleLabelList"/>
    <dgm:cxn modelId="{8F9CDA5D-0DF0-402C-AC5A-99C5B0EFBB67}" type="presParOf" srcId="{7DE2B482-89F9-450E-BE03-905E125CE70B}" destId="{2A8C41C9-27FD-4EC9-A48F-5010ABE8E4FE}"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4354678-52DA-4021-8EAA-51EC0C55CD81}"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82F33D79-99C0-45C9-BD49-727FA80394B0}">
      <dgm:prSet/>
      <dgm:spPr/>
      <dgm:t>
        <a:bodyPr/>
        <a:lstStyle/>
        <a:p>
          <a:pPr>
            <a:lnSpc>
              <a:spcPct val="100000"/>
            </a:lnSpc>
            <a:defRPr cap="all"/>
          </a:pPr>
          <a:r>
            <a:rPr lang="en-AU"/>
            <a:t>To reduce revenue lost due to discounts by 10%.</a:t>
          </a:r>
          <a:endParaRPr lang="en-US"/>
        </a:p>
      </dgm:t>
    </dgm:pt>
    <dgm:pt modelId="{AB8CB952-7723-4BE1-AC19-F1B25981A82B}" type="parTrans" cxnId="{DB652FD9-DEDD-4F29-B494-DE0E22D68769}">
      <dgm:prSet/>
      <dgm:spPr/>
      <dgm:t>
        <a:bodyPr/>
        <a:lstStyle/>
        <a:p>
          <a:endParaRPr lang="en-US"/>
        </a:p>
      </dgm:t>
    </dgm:pt>
    <dgm:pt modelId="{648A19BD-EB7C-4423-81D9-7A1FDF3C63C9}" type="sibTrans" cxnId="{DB652FD9-DEDD-4F29-B494-DE0E22D68769}">
      <dgm:prSet/>
      <dgm:spPr/>
      <dgm:t>
        <a:bodyPr/>
        <a:lstStyle/>
        <a:p>
          <a:endParaRPr lang="en-US"/>
        </a:p>
      </dgm:t>
    </dgm:pt>
    <dgm:pt modelId="{3AE656BE-AC7A-4CB2-82C8-340FFAD5F612}">
      <dgm:prSet/>
      <dgm:spPr/>
      <dgm:t>
        <a:bodyPr/>
        <a:lstStyle/>
        <a:p>
          <a:pPr>
            <a:lnSpc>
              <a:spcPct val="100000"/>
            </a:lnSpc>
            <a:defRPr cap="all"/>
          </a:pPr>
          <a:r>
            <a:rPr lang="en-AU"/>
            <a:t>Evaluate how discounts margins effect Revenue and Profit.</a:t>
          </a:r>
          <a:endParaRPr lang="en-US"/>
        </a:p>
      </dgm:t>
    </dgm:pt>
    <dgm:pt modelId="{792D1DBF-505D-4247-97EE-785061DDC59E}" type="parTrans" cxnId="{F59E2824-5688-46FB-9B72-0AB2C4675030}">
      <dgm:prSet/>
      <dgm:spPr/>
      <dgm:t>
        <a:bodyPr/>
        <a:lstStyle/>
        <a:p>
          <a:endParaRPr lang="en-US"/>
        </a:p>
      </dgm:t>
    </dgm:pt>
    <dgm:pt modelId="{F5F847A2-7E0E-4B8E-834F-FE924A63069D}" type="sibTrans" cxnId="{F59E2824-5688-46FB-9B72-0AB2C4675030}">
      <dgm:prSet/>
      <dgm:spPr/>
      <dgm:t>
        <a:bodyPr/>
        <a:lstStyle/>
        <a:p>
          <a:endParaRPr lang="en-US"/>
        </a:p>
      </dgm:t>
    </dgm:pt>
    <dgm:pt modelId="{36FD0168-556E-4123-896E-C0878FDBD2A6}">
      <dgm:prSet/>
      <dgm:spPr/>
      <dgm:t>
        <a:bodyPr/>
        <a:lstStyle/>
        <a:p>
          <a:pPr>
            <a:lnSpc>
              <a:spcPct val="100000"/>
            </a:lnSpc>
            <a:defRPr cap="all"/>
          </a:pPr>
          <a:r>
            <a:rPr lang="en-AU"/>
            <a:t>Recommend discount strategies to improve overall efficiency</a:t>
          </a:r>
          <a:endParaRPr lang="en-US"/>
        </a:p>
      </dgm:t>
    </dgm:pt>
    <dgm:pt modelId="{3ABDDEE2-DAE7-4098-A8D7-70FE6D4E0669}" type="parTrans" cxnId="{7C3ECDE9-ED6B-4C93-9D72-FEFCBA8B259B}">
      <dgm:prSet/>
      <dgm:spPr/>
      <dgm:t>
        <a:bodyPr/>
        <a:lstStyle/>
        <a:p>
          <a:endParaRPr lang="en-US"/>
        </a:p>
      </dgm:t>
    </dgm:pt>
    <dgm:pt modelId="{8BEBDD3B-7C2F-40FC-9B14-913DBA2FD926}" type="sibTrans" cxnId="{7C3ECDE9-ED6B-4C93-9D72-FEFCBA8B259B}">
      <dgm:prSet/>
      <dgm:spPr/>
      <dgm:t>
        <a:bodyPr/>
        <a:lstStyle/>
        <a:p>
          <a:endParaRPr lang="en-US"/>
        </a:p>
      </dgm:t>
    </dgm:pt>
    <dgm:pt modelId="{8A8753B9-B2B1-476D-83AA-A1A3DD4DCE78}" type="pres">
      <dgm:prSet presAssocID="{B4354678-52DA-4021-8EAA-51EC0C55CD81}" presName="root" presStyleCnt="0">
        <dgm:presLayoutVars>
          <dgm:dir/>
          <dgm:resizeHandles val="exact"/>
        </dgm:presLayoutVars>
      </dgm:prSet>
      <dgm:spPr/>
    </dgm:pt>
    <dgm:pt modelId="{68B2B005-1590-4DDD-A0FE-849A327DE108}" type="pres">
      <dgm:prSet presAssocID="{82F33D79-99C0-45C9-BD49-727FA80394B0}" presName="compNode" presStyleCnt="0"/>
      <dgm:spPr/>
    </dgm:pt>
    <dgm:pt modelId="{625EC500-B005-4387-A04E-2EFCA9C134D5}" type="pres">
      <dgm:prSet presAssocID="{82F33D79-99C0-45C9-BD49-727FA80394B0}" presName="iconBgRect" presStyleLbl="bgShp" presStyleIdx="0" presStyleCnt="3"/>
      <dgm:spPr>
        <a:prstGeom prst="round2DiagRect">
          <a:avLst>
            <a:gd name="adj1" fmla="val 29727"/>
            <a:gd name="adj2" fmla="val 0"/>
          </a:avLst>
        </a:prstGeom>
      </dgm:spPr>
    </dgm:pt>
    <dgm:pt modelId="{196E3AAE-1427-4350-8D31-85F822C23A78}" type="pres">
      <dgm:prSet presAssocID="{82F33D79-99C0-45C9-BD49-727FA80394B0}"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llar"/>
        </a:ext>
      </dgm:extLst>
    </dgm:pt>
    <dgm:pt modelId="{0D005442-0F6D-48AC-8DFC-660F67F6F215}" type="pres">
      <dgm:prSet presAssocID="{82F33D79-99C0-45C9-BD49-727FA80394B0}" presName="spaceRect" presStyleCnt="0"/>
      <dgm:spPr/>
    </dgm:pt>
    <dgm:pt modelId="{394D497F-D37B-4CD6-869E-384CAA3A71BE}" type="pres">
      <dgm:prSet presAssocID="{82F33D79-99C0-45C9-BD49-727FA80394B0}" presName="textRect" presStyleLbl="revTx" presStyleIdx="0" presStyleCnt="3">
        <dgm:presLayoutVars>
          <dgm:chMax val="1"/>
          <dgm:chPref val="1"/>
        </dgm:presLayoutVars>
      </dgm:prSet>
      <dgm:spPr/>
    </dgm:pt>
    <dgm:pt modelId="{C5422EA0-F43B-4EE6-AA05-85DA3E5445FC}" type="pres">
      <dgm:prSet presAssocID="{648A19BD-EB7C-4423-81D9-7A1FDF3C63C9}" presName="sibTrans" presStyleCnt="0"/>
      <dgm:spPr/>
    </dgm:pt>
    <dgm:pt modelId="{E1E541D5-05DD-4973-87A8-4421E5050354}" type="pres">
      <dgm:prSet presAssocID="{3AE656BE-AC7A-4CB2-82C8-340FFAD5F612}" presName="compNode" presStyleCnt="0"/>
      <dgm:spPr/>
    </dgm:pt>
    <dgm:pt modelId="{05CE3335-0A3F-4F6B-8DD2-905C0682F584}" type="pres">
      <dgm:prSet presAssocID="{3AE656BE-AC7A-4CB2-82C8-340FFAD5F612}" presName="iconBgRect" presStyleLbl="bgShp" presStyleIdx="1" presStyleCnt="3"/>
      <dgm:spPr>
        <a:prstGeom prst="round2DiagRect">
          <a:avLst>
            <a:gd name="adj1" fmla="val 29727"/>
            <a:gd name="adj2" fmla="val 0"/>
          </a:avLst>
        </a:prstGeom>
      </dgm:spPr>
    </dgm:pt>
    <dgm:pt modelId="{EB387EA7-C382-460D-8AD7-AFFE81D485B2}" type="pres">
      <dgm:prSet presAssocID="{3AE656BE-AC7A-4CB2-82C8-340FFAD5F612}"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Euro"/>
        </a:ext>
      </dgm:extLst>
    </dgm:pt>
    <dgm:pt modelId="{FA8781DA-1972-4281-82FA-015251684886}" type="pres">
      <dgm:prSet presAssocID="{3AE656BE-AC7A-4CB2-82C8-340FFAD5F612}" presName="spaceRect" presStyleCnt="0"/>
      <dgm:spPr/>
    </dgm:pt>
    <dgm:pt modelId="{08026310-FA5F-490B-8AA9-D9CF189DD20D}" type="pres">
      <dgm:prSet presAssocID="{3AE656BE-AC7A-4CB2-82C8-340FFAD5F612}" presName="textRect" presStyleLbl="revTx" presStyleIdx="1" presStyleCnt="3">
        <dgm:presLayoutVars>
          <dgm:chMax val="1"/>
          <dgm:chPref val="1"/>
        </dgm:presLayoutVars>
      </dgm:prSet>
      <dgm:spPr/>
    </dgm:pt>
    <dgm:pt modelId="{F3995C42-AB29-433B-A525-6137B2B7064E}" type="pres">
      <dgm:prSet presAssocID="{F5F847A2-7E0E-4B8E-834F-FE924A63069D}" presName="sibTrans" presStyleCnt="0"/>
      <dgm:spPr/>
    </dgm:pt>
    <dgm:pt modelId="{3E7037EE-8769-4156-94F1-0239FE4A3D96}" type="pres">
      <dgm:prSet presAssocID="{36FD0168-556E-4123-896E-C0878FDBD2A6}" presName="compNode" presStyleCnt="0"/>
      <dgm:spPr/>
    </dgm:pt>
    <dgm:pt modelId="{B1E9D8AD-D195-42BB-8E57-8575E0D99E93}" type="pres">
      <dgm:prSet presAssocID="{36FD0168-556E-4123-896E-C0878FDBD2A6}" presName="iconBgRect" presStyleLbl="bgShp" presStyleIdx="2" presStyleCnt="3"/>
      <dgm:spPr>
        <a:prstGeom prst="round2DiagRect">
          <a:avLst>
            <a:gd name="adj1" fmla="val 29727"/>
            <a:gd name="adj2" fmla="val 0"/>
          </a:avLst>
        </a:prstGeom>
      </dgm:spPr>
    </dgm:pt>
    <dgm:pt modelId="{FCD7F781-A7CB-4F7D-8251-EAC8D9E989D6}" type="pres">
      <dgm:prSet presAssocID="{36FD0168-556E-4123-896E-C0878FDBD2A6}"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eckmark"/>
        </a:ext>
      </dgm:extLst>
    </dgm:pt>
    <dgm:pt modelId="{3008893C-F8C1-440F-A820-000953E5320A}" type="pres">
      <dgm:prSet presAssocID="{36FD0168-556E-4123-896E-C0878FDBD2A6}" presName="spaceRect" presStyleCnt="0"/>
      <dgm:spPr/>
    </dgm:pt>
    <dgm:pt modelId="{555968B8-0366-4798-8975-56C13C3C9A8D}" type="pres">
      <dgm:prSet presAssocID="{36FD0168-556E-4123-896E-C0878FDBD2A6}" presName="textRect" presStyleLbl="revTx" presStyleIdx="2" presStyleCnt="3">
        <dgm:presLayoutVars>
          <dgm:chMax val="1"/>
          <dgm:chPref val="1"/>
        </dgm:presLayoutVars>
      </dgm:prSet>
      <dgm:spPr/>
    </dgm:pt>
  </dgm:ptLst>
  <dgm:cxnLst>
    <dgm:cxn modelId="{F59E2824-5688-46FB-9B72-0AB2C4675030}" srcId="{B4354678-52DA-4021-8EAA-51EC0C55CD81}" destId="{3AE656BE-AC7A-4CB2-82C8-340FFAD5F612}" srcOrd="1" destOrd="0" parTransId="{792D1DBF-505D-4247-97EE-785061DDC59E}" sibTransId="{F5F847A2-7E0E-4B8E-834F-FE924A63069D}"/>
    <dgm:cxn modelId="{B8BD9126-5C53-4117-9C88-74B6FC14E507}" type="presOf" srcId="{82F33D79-99C0-45C9-BD49-727FA80394B0}" destId="{394D497F-D37B-4CD6-869E-384CAA3A71BE}" srcOrd="0" destOrd="0" presId="urn:microsoft.com/office/officeart/2018/5/layout/IconLeafLabelList"/>
    <dgm:cxn modelId="{68CB5A95-7153-405A-B2C9-D14F43D39460}" type="presOf" srcId="{3AE656BE-AC7A-4CB2-82C8-340FFAD5F612}" destId="{08026310-FA5F-490B-8AA9-D9CF189DD20D}" srcOrd="0" destOrd="0" presId="urn:microsoft.com/office/officeart/2018/5/layout/IconLeafLabelList"/>
    <dgm:cxn modelId="{06AE559F-F0EA-42F8-9A94-31C206C825B7}" type="presOf" srcId="{B4354678-52DA-4021-8EAA-51EC0C55CD81}" destId="{8A8753B9-B2B1-476D-83AA-A1A3DD4DCE78}" srcOrd="0" destOrd="0" presId="urn:microsoft.com/office/officeart/2018/5/layout/IconLeafLabelList"/>
    <dgm:cxn modelId="{8B7D36B5-A2B4-47BA-B9BA-5C48AB03DBEB}" type="presOf" srcId="{36FD0168-556E-4123-896E-C0878FDBD2A6}" destId="{555968B8-0366-4798-8975-56C13C3C9A8D}" srcOrd="0" destOrd="0" presId="urn:microsoft.com/office/officeart/2018/5/layout/IconLeafLabelList"/>
    <dgm:cxn modelId="{DB652FD9-DEDD-4F29-B494-DE0E22D68769}" srcId="{B4354678-52DA-4021-8EAA-51EC0C55CD81}" destId="{82F33D79-99C0-45C9-BD49-727FA80394B0}" srcOrd="0" destOrd="0" parTransId="{AB8CB952-7723-4BE1-AC19-F1B25981A82B}" sibTransId="{648A19BD-EB7C-4423-81D9-7A1FDF3C63C9}"/>
    <dgm:cxn modelId="{7C3ECDE9-ED6B-4C93-9D72-FEFCBA8B259B}" srcId="{B4354678-52DA-4021-8EAA-51EC0C55CD81}" destId="{36FD0168-556E-4123-896E-C0878FDBD2A6}" srcOrd="2" destOrd="0" parTransId="{3ABDDEE2-DAE7-4098-A8D7-70FE6D4E0669}" sibTransId="{8BEBDD3B-7C2F-40FC-9B14-913DBA2FD926}"/>
    <dgm:cxn modelId="{89E8B172-59F8-4C1B-B7B8-74625D16EEA9}" type="presParOf" srcId="{8A8753B9-B2B1-476D-83AA-A1A3DD4DCE78}" destId="{68B2B005-1590-4DDD-A0FE-849A327DE108}" srcOrd="0" destOrd="0" presId="urn:microsoft.com/office/officeart/2018/5/layout/IconLeafLabelList"/>
    <dgm:cxn modelId="{EB7821AD-B0DE-4C7F-B601-7F728B423710}" type="presParOf" srcId="{68B2B005-1590-4DDD-A0FE-849A327DE108}" destId="{625EC500-B005-4387-A04E-2EFCA9C134D5}" srcOrd="0" destOrd="0" presId="urn:microsoft.com/office/officeart/2018/5/layout/IconLeafLabelList"/>
    <dgm:cxn modelId="{120492E6-38B2-41A1-8DC5-CE635FD617EF}" type="presParOf" srcId="{68B2B005-1590-4DDD-A0FE-849A327DE108}" destId="{196E3AAE-1427-4350-8D31-85F822C23A78}" srcOrd="1" destOrd="0" presId="urn:microsoft.com/office/officeart/2018/5/layout/IconLeafLabelList"/>
    <dgm:cxn modelId="{A968913B-91B0-4FA3-98C8-392AE835F4B4}" type="presParOf" srcId="{68B2B005-1590-4DDD-A0FE-849A327DE108}" destId="{0D005442-0F6D-48AC-8DFC-660F67F6F215}" srcOrd="2" destOrd="0" presId="urn:microsoft.com/office/officeart/2018/5/layout/IconLeafLabelList"/>
    <dgm:cxn modelId="{FE874329-5627-423E-B42B-B9E254308B3A}" type="presParOf" srcId="{68B2B005-1590-4DDD-A0FE-849A327DE108}" destId="{394D497F-D37B-4CD6-869E-384CAA3A71BE}" srcOrd="3" destOrd="0" presId="urn:microsoft.com/office/officeart/2018/5/layout/IconLeafLabelList"/>
    <dgm:cxn modelId="{87DA4AFC-7CAE-4B90-99D7-10918E0909AB}" type="presParOf" srcId="{8A8753B9-B2B1-476D-83AA-A1A3DD4DCE78}" destId="{C5422EA0-F43B-4EE6-AA05-85DA3E5445FC}" srcOrd="1" destOrd="0" presId="urn:microsoft.com/office/officeart/2018/5/layout/IconLeafLabelList"/>
    <dgm:cxn modelId="{93737661-E742-42A7-B41D-C7B788129263}" type="presParOf" srcId="{8A8753B9-B2B1-476D-83AA-A1A3DD4DCE78}" destId="{E1E541D5-05DD-4973-87A8-4421E5050354}" srcOrd="2" destOrd="0" presId="urn:microsoft.com/office/officeart/2018/5/layout/IconLeafLabelList"/>
    <dgm:cxn modelId="{808D1E5E-BEFF-454A-8B0B-3E0CEDB5CE51}" type="presParOf" srcId="{E1E541D5-05DD-4973-87A8-4421E5050354}" destId="{05CE3335-0A3F-4F6B-8DD2-905C0682F584}" srcOrd="0" destOrd="0" presId="urn:microsoft.com/office/officeart/2018/5/layout/IconLeafLabelList"/>
    <dgm:cxn modelId="{4CF9AB0B-95CA-4E92-9BFB-B5919855644A}" type="presParOf" srcId="{E1E541D5-05DD-4973-87A8-4421E5050354}" destId="{EB387EA7-C382-460D-8AD7-AFFE81D485B2}" srcOrd="1" destOrd="0" presId="urn:microsoft.com/office/officeart/2018/5/layout/IconLeafLabelList"/>
    <dgm:cxn modelId="{1D143631-8B13-4ABC-A877-0F5F54273433}" type="presParOf" srcId="{E1E541D5-05DD-4973-87A8-4421E5050354}" destId="{FA8781DA-1972-4281-82FA-015251684886}" srcOrd="2" destOrd="0" presId="urn:microsoft.com/office/officeart/2018/5/layout/IconLeafLabelList"/>
    <dgm:cxn modelId="{93C61713-EBC1-4834-B011-2BD489CEE656}" type="presParOf" srcId="{E1E541D5-05DD-4973-87A8-4421E5050354}" destId="{08026310-FA5F-490B-8AA9-D9CF189DD20D}" srcOrd="3" destOrd="0" presId="urn:microsoft.com/office/officeart/2018/5/layout/IconLeafLabelList"/>
    <dgm:cxn modelId="{6215E0A7-F9A8-44DE-AF38-15B0DDCCC51E}" type="presParOf" srcId="{8A8753B9-B2B1-476D-83AA-A1A3DD4DCE78}" destId="{F3995C42-AB29-433B-A525-6137B2B7064E}" srcOrd="3" destOrd="0" presId="urn:microsoft.com/office/officeart/2018/5/layout/IconLeafLabelList"/>
    <dgm:cxn modelId="{834F0085-1BC3-47A3-90BE-F48DD3E61E38}" type="presParOf" srcId="{8A8753B9-B2B1-476D-83AA-A1A3DD4DCE78}" destId="{3E7037EE-8769-4156-94F1-0239FE4A3D96}" srcOrd="4" destOrd="0" presId="urn:microsoft.com/office/officeart/2018/5/layout/IconLeafLabelList"/>
    <dgm:cxn modelId="{265C3BC4-3B3C-426C-97E4-6EC6BD351F0F}" type="presParOf" srcId="{3E7037EE-8769-4156-94F1-0239FE4A3D96}" destId="{B1E9D8AD-D195-42BB-8E57-8575E0D99E93}" srcOrd="0" destOrd="0" presId="urn:microsoft.com/office/officeart/2018/5/layout/IconLeafLabelList"/>
    <dgm:cxn modelId="{BD657B44-7F8C-4082-9186-0EB5414B01F8}" type="presParOf" srcId="{3E7037EE-8769-4156-94F1-0239FE4A3D96}" destId="{FCD7F781-A7CB-4F7D-8251-EAC8D9E989D6}" srcOrd="1" destOrd="0" presId="urn:microsoft.com/office/officeart/2018/5/layout/IconLeafLabelList"/>
    <dgm:cxn modelId="{06C5EA3D-6253-4D5C-9C9E-A4876756B59E}" type="presParOf" srcId="{3E7037EE-8769-4156-94F1-0239FE4A3D96}" destId="{3008893C-F8C1-440F-A820-000953E5320A}" srcOrd="2" destOrd="0" presId="urn:microsoft.com/office/officeart/2018/5/layout/IconLeafLabelList"/>
    <dgm:cxn modelId="{04D7C1E2-2856-4E3D-AA29-D02DC2B86616}" type="presParOf" srcId="{3E7037EE-8769-4156-94F1-0239FE4A3D96}" destId="{555968B8-0366-4798-8975-56C13C3C9A8D}"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5AFEA78-B8FB-45CF-AA4A-4FADCC3CCCFC}"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B48745C2-DB1C-46E4-8A83-317E023B3528}">
      <dgm:prSet/>
      <dgm:spPr/>
      <dgm:t>
        <a:bodyPr/>
        <a:lstStyle/>
        <a:p>
          <a:pPr>
            <a:lnSpc>
              <a:spcPct val="100000"/>
            </a:lnSpc>
            <a:defRPr cap="all"/>
          </a:pPr>
          <a:r>
            <a:rPr lang="en-AU"/>
            <a:t>Total Revenue - $32.9M.</a:t>
          </a:r>
          <a:endParaRPr lang="en-US"/>
        </a:p>
      </dgm:t>
    </dgm:pt>
    <dgm:pt modelId="{520D5345-26FA-404B-AF33-E0D8D8854EE5}" type="parTrans" cxnId="{15D8AE52-E29C-4EEC-A660-6AE91A6D3C31}">
      <dgm:prSet/>
      <dgm:spPr/>
      <dgm:t>
        <a:bodyPr/>
        <a:lstStyle/>
        <a:p>
          <a:endParaRPr lang="en-US"/>
        </a:p>
      </dgm:t>
    </dgm:pt>
    <dgm:pt modelId="{75BECBF6-B781-4488-B934-638476B54838}" type="sibTrans" cxnId="{15D8AE52-E29C-4EEC-A660-6AE91A6D3C31}">
      <dgm:prSet/>
      <dgm:spPr/>
      <dgm:t>
        <a:bodyPr/>
        <a:lstStyle/>
        <a:p>
          <a:endParaRPr lang="en-US"/>
        </a:p>
      </dgm:t>
    </dgm:pt>
    <dgm:pt modelId="{23497830-1AC0-491B-B243-5212E6A64DA6}">
      <dgm:prSet/>
      <dgm:spPr/>
      <dgm:t>
        <a:bodyPr/>
        <a:lstStyle/>
        <a:p>
          <a:pPr>
            <a:lnSpc>
              <a:spcPct val="100000"/>
            </a:lnSpc>
            <a:defRPr cap="all"/>
          </a:pPr>
          <a:r>
            <a:rPr lang="en-AU"/>
            <a:t>Average Order Value - $657.</a:t>
          </a:r>
          <a:endParaRPr lang="en-US"/>
        </a:p>
      </dgm:t>
    </dgm:pt>
    <dgm:pt modelId="{30FF073B-2CC1-4720-BEB3-BC4423568EBB}" type="parTrans" cxnId="{B81F4D24-D359-449F-A300-873D1399C1F1}">
      <dgm:prSet/>
      <dgm:spPr/>
      <dgm:t>
        <a:bodyPr/>
        <a:lstStyle/>
        <a:p>
          <a:endParaRPr lang="en-US"/>
        </a:p>
      </dgm:t>
    </dgm:pt>
    <dgm:pt modelId="{EA3DC879-1AD6-4585-BB9C-4CDECD49EDCA}" type="sibTrans" cxnId="{B81F4D24-D359-449F-A300-873D1399C1F1}">
      <dgm:prSet/>
      <dgm:spPr/>
      <dgm:t>
        <a:bodyPr/>
        <a:lstStyle/>
        <a:p>
          <a:endParaRPr lang="en-US"/>
        </a:p>
      </dgm:t>
    </dgm:pt>
    <dgm:pt modelId="{74C016DD-5B0C-42C7-812B-D225362BAAA8}">
      <dgm:prSet/>
      <dgm:spPr/>
      <dgm:t>
        <a:bodyPr/>
        <a:lstStyle/>
        <a:p>
          <a:pPr>
            <a:lnSpc>
              <a:spcPct val="100000"/>
            </a:lnSpc>
            <a:defRPr cap="all"/>
          </a:pPr>
          <a:r>
            <a:rPr lang="en-AU"/>
            <a:t>Total Quantity Sold – 150K.</a:t>
          </a:r>
          <a:endParaRPr lang="en-US"/>
        </a:p>
      </dgm:t>
    </dgm:pt>
    <dgm:pt modelId="{E0956136-B881-4716-B24F-16F8F1C09E1B}" type="parTrans" cxnId="{B625DC82-2307-4A56-87AB-C870EEC50D12}">
      <dgm:prSet/>
      <dgm:spPr/>
      <dgm:t>
        <a:bodyPr/>
        <a:lstStyle/>
        <a:p>
          <a:endParaRPr lang="en-US"/>
        </a:p>
      </dgm:t>
    </dgm:pt>
    <dgm:pt modelId="{B5AA2CFE-32D8-4C29-BA9F-EEB2CFBAA067}" type="sibTrans" cxnId="{B625DC82-2307-4A56-87AB-C870EEC50D12}">
      <dgm:prSet/>
      <dgm:spPr/>
      <dgm:t>
        <a:bodyPr/>
        <a:lstStyle/>
        <a:p>
          <a:endParaRPr lang="en-US"/>
        </a:p>
      </dgm:t>
    </dgm:pt>
    <dgm:pt modelId="{037ABD63-B3AE-456B-A07E-03C7B3EE18DD}">
      <dgm:prSet/>
      <dgm:spPr/>
      <dgm:t>
        <a:bodyPr/>
        <a:lstStyle/>
        <a:p>
          <a:pPr>
            <a:lnSpc>
              <a:spcPct val="100000"/>
            </a:lnSpc>
            <a:defRPr cap="all"/>
          </a:pPr>
          <a:r>
            <a:rPr lang="en-AU"/>
            <a:t>Discount Percentage of Total Quantity – 83.6%.</a:t>
          </a:r>
          <a:endParaRPr lang="en-US"/>
        </a:p>
      </dgm:t>
    </dgm:pt>
    <dgm:pt modelId="{5154DD62-CA3D-4305-BF3A-3235841C0196}" type="parTrans" cxnId="{2B455B37-2729-444C-B409-403DC188BD08}">
      <dgm:prSet/>
      <dgm:spPr/>
      <dgm:t>
        <a:bodyPr/>
        <a:lstStyle/>
        <a:p>
          <a:endParaRPr lang="en-US"/>
        </a:p>
      </dgm:t>
    </dgm:pt>
    <dgm:pt modelId="{95874220-E500-4241-9FAE-AA0AC32DFE6B}" type="sibTrans" cxnId="{2B455B37-2729-444C-B409-403DC188BD08}">
      <dgm:prSet/>
      <dgm:spPr/>
      <dgm:t>
        <a:bodyPr/>
        <a:lstStyle/>
        <a:p>
          <a:endParaRPr lang="en-US"/>
        </a:p>
      </dgm:t>
    </dgm:pt>
    <dgm:pt modelId="{BFA0FA44-7203-4892-A7CE-D7B06C394B98}">
      <dgm:prSet/>
      <dgm:spPr/>
      <dgm:t>
        <a:bodyPr/>
        <a:lstStyle/>
        <a:p>
          <a:pPr>
            <a:lnSpc>
              <a:spcPct val="100000"/>
            </a:lnSpc>
            <a:defRPr cap="all"/>
          </a:pPr>
          <a:r>
            <a:rPr lang="en-AU"/>
            <a:t>Top Category with highest discounted items – Fashion.</a:t>
          </a:r>
          <a:endParaRPr lang="en-US"/>
        </a:p>
      </dgm:t>
    </dgm:pt>
    <dgm:pt modelId="{D901356E-1119-4666-9CEC-6329F161AEAF}" type="parTrans" cxnId="{D0AFD167-A2E5-43AB-ABE9-D46C51916778}">
      <dgm:prSet/>
      <dgm:spPr/>
      <dgm:t>
        <a:bodyPr/>
        <a:lstStyle/>
        <a:p>
          <a:endParaRPr lang="en-US"/>
        </a:p>
      </dgm:t>
    </dgm:pt>
    <dgm:pt modelId="{C038F30E-81AB-48DE-BCA0-A24CE34E4076}" type="sibTrans" cxnId="{D0AFD167-A2E5-43AB-ABE9-D46C51916778}">
      <dgm:prSet/>
      <dgm:spPr/>
      <dgm:t>
        <a:bodyPr/>
        <a:lstStyle/>
        <a:p>
          <a:endParaRPr lang="en-US"/>
        </a:p>
      </dgm:t>
    </dgm:pt>
    <dgm:pt modelId="{25AA1804-D96D-42C7-AAF8-6577CC6750B0}" type="pres">
      <dgm:prSet presAssocID="{65AFEA78-B8FB-45CF-AA4A-4FADCC3CCCFC}" presName="root" presStyleCnt="0">
        <dgm:presLayoutVars>
          <dgm:dir/>
          <dgm:resizeHandles val="exact"/>
        </dgm:presLayoutVars>
      </dgm:prSet>
      <dgm:spPr/>
    </dgm:pt>
    <dgm:pt modelId="{1DFFAEBC-A827-461C-B40A-906825A2E957}" type="pres">
      <dgm:prSet presAssocID="{B48745C2-DB1C-46E4-8A83-317E023B3528}" presName="compNode" presStyleCnt="0"/>
      <dgm:spPr/>
    </dgm:pt>
    <dgm:pt modelId="{07D810A5-6149-47B7-9FF8-BC74C0BB9C25}" type="pres">
      <dgm:prSet presAssocID="{B48745C2-DB1C-46E4-8A83-317E023B3528}" presName="iconBgRect" presStyleLbl="bgShp" presStyleIdx="0" presStyleCnt="5"/>
      <dgm:spPr/>
    </dgm:pt>
    <dgm:pt modelId="{47430272-5197-4010-B603-69DCA46A633B}" type="pres">
      <dgm:prSet presAssocID="{B48745C2-DB1C-46E4-8A83-317E023B3528}"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oney"/>
        </a:ext>
      </dgm:extLst>
    </dgm:pt>
    <dgm:pt modelId="{F654CE80-9BB8-480C-B18D-EF8BF5D277AC}" type="pres">
      <dgm:prSet presAssocID="{B48745C2-DB1C-46E4-8A83-317E023B3528}" presName="spaceRect" presStyleCnt="0"/>
      <dgm:spPr/>
    </dgm:pt>
    <dgm:pt modelId="{1ECAE591-1A9A-4191-887E-1E1AF79C146C}" type="pres">
      <dgm:prSet presAssocID="{B48745C2-DB1C-46E4-8A83-317E023B3528}" presName="textRect" presStyleLbl="revTx" presStyleIdx="0" presStyleCnt="5">
        <dgm:presLayoutVars>
          <dgm:chMax val="1"/>
          <dgm:chPref val="1"/>
        </dgm:presLayoutVars>
      </dgm:prSet>
      <dgm:spPr/>
    </dgm:pt>
    <dgm:pt modelId="{10AB402C-3E1B-4054-A6C7-1DE88EFC4C49}" type="pres">
      <dgm:prSet presAssocID="{75BECBF6-B781-4488-B934-638476B54838}" presName="sibTrans" presStyleCnt="0"/>
      <dgm:spPr/>
    </dgm:pt>
    <dgm:pt modelId="{23AE8A24-544C-46FE-9A1A-811B858B2C94}" type="pres">
      <dgm:prSet presAssocID="{23497830-1AC0-491B-B243-5212E6A64DA6}" presName="compNode" presStyleCnt="0"/>
      <dgm:spPr/>
    </dgm:pt>
    <dgm:pt modelId="{74072388-D187-4BEC-8CD1-78CEBC023DDE}" type="pres">
      <dgm:prSet presAssocID="{23497830-1AC0-491B-B243-5212E6A64DA6}" presName="iconBgRect" presStyleLbl="bgShp" presStyleIdx="1" presStyleCnt="5"/>
      <dgm:spPr/>
    </dgm:pt>
    <dgm:pt modelId="{F8AD32F8-0562-46D3-AD1A-96F90A1D9E64}" type="pres">
      <dgm:prSet presAssocID="{23497830-1AC0-491B-B243-5212E6A64DA6}"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ins"/>
        </a:ext>
      </dgm:extLst>
    </dgm:pt>
    <dgm:pt modelId="{2C193F37-DEAA-431F-B023-C79693E507DC}" type="pres">
      <dgm:prSet presAssocID="{23497830-1AC0-491B-B243-5212E6A64DA6}" presName="spaceRect" presStyleCnt="0"/>
      <dgm:spPr/>
    </dgm:pt>
    <dgm:pt modelId="{30CC874D-132B-4273-AD7F-6249BEC1BDC0}" type="pres">
      <dgm:prSet presAssocID="{23497830-1AC0-491B-B243-5212E6A64DA6}" presName="textRect" presStyleLbl="revTx" presStyleIdx="1" presStyleCnt="5">
        <dgm:presLayoutVars>
          <dgm:chMax val="1"/>
          <dgm:chPref val="1"/>
        </dgm:presLayoutVars>
      </dgm:prSet>
      <dgm:spPr/>
    </dgm:pt>
    <dgm:pt modelId="{5668EAF6-DB26-4D4E-A52E-3DB6958B842E}" type="pres">
      <dgm:prSet presAssocID="{EA3DC879-1AD6-4585-BB9C-4CDECD49EDCA}" presName="sibTrans" presStyleCnt="0"/>
      <dgm:spPr/>
    </dgm:pt>
    <dgm:pt modelId="{72B7EEA2-780D-4DF0-978F-955DFD5BC30F}" type="pres">
      <dgm:prSet presAssocID="{74C016DD-5B0C-42C7-812B-D225362BAAA8}" presName="compNode" presStyleCnt="0"/>
      <dgm:spPr/>
    </dgm:pt>
    <dgm:pt modelId="{C29E068A-0148-4D44-A40B-1BB823D45928}" type="pres">
      <dgm:prSet presAssocID="{74C016DD-5B0C-42C7-812B-D225362BAAA8}" presName="iconBgRect" presStyleLbl="bgShp" presStyleIdx="2" presStyleCnt="5"/>
      <dgm:spPr/>
    </dgm:pt>
    <dgm:pt modelId="{04620F55-9D69-4138-8360-31204C03E753}" type="pres">
      <dgm:prSet presAssocID="{74C016DD-5B0C-42C7-812B-D225362BAAA8}"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Tag"/>
        </a:ext>
      </dgm:extLst>
    </dgm:pt>
    <dgm:pt modelId="{1E5A724E-52AB-4AB9-A938-0229B54EA3B8}" type="pres">
      <dgm:prSet presAssocID="{74C016DD-5B0C-42C7-812B-D225362BAAA8}" presName="spaceRect" presStyleCnt="0"/>
      <dgm:spPr/>
    </dgm:pt>
    <dgm:pt modelId="{A4CB4B6A-3A28-472E-8723-6B707B43ECEB}" type="pres">
      <dgm:prSet presAssocID="{74C016DD-5B0C-42C7-812B-D225362BAAA8}" presName="textRect" presStyleLbl="revTx" presStyleIdx="2" presStyleCnt="5">
        <dgm:presLayoutVars>
          <dgm:chMax val="1"/>
          <dgm:chPref val="1"/>
        </dgm:presLayoutVars>
      </dgm:prSet>
      <dgm:spPr/>
    </dgm:pt>
    <dgm:pt modelId="{DC0B4F05-7413-48F7-A045-73AE8FE55BD6}" type="pres">
      <dgm:prSet presAssocID="{B5AA2CFE-32D8-4C29-BA9F-EEB2CFBAA067}" presName="sibTrans" presStyleCnt="0"/>
      <dgm:spPr/>
    </dgm:pt>
    <dgm:pt modelId="{6C8EE519-FAF9-4F13-BBCA-D7BD1F079206}" type="pres">
      <dgm:prSet presAssocID="{037ABD63-B3AE-456B-A07E-03C7B3EE18DD}" presName="compNode" presStyleCnt="0"/>
      <dgm:spPr/>
    </dgm:pt>
    <dgm:pt modelId="{EAEA63A1-8183-44E9-B5F4-E4A031A862C8}" type="pres">
      <dgm:prSet presAssocID="{037ABD63-B3AE-456B-A07E-03C7B3EE18DD}" presName="iconBgRect" presStyleLbl="bgShp" presStyleIdx="3" presStyleCnt="5"/>
      <dgm:spPr/>
    </dgm:pt>
    <dgm:pt modelId="{281676F4-908F-4FD5-A93B-DA78087C394A}" type="pres">
      <dgm:prSet presAssocID="{037ABD63-B3AE-456B-A07E-03C7B3EE18DD}"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Ruble"/>
        </a:ext>
      </dgm:extLst>
    </dgm:pt>
    <dgm:pt modelId="{F36817E8-A250-4438-9719-15F822861648}" type="pres">
      <dgm:prSet presAssocID="{037ABD63-B3AE-456B-A07E-03C7B3EE18DD}" presName="spaceRect" presStyleCnt="0"/>
      <dgm:spPr/>
    </dgm:pt>
    <dgm:pt modelId="{79DA42CD-85C7-4F29-A894-EFF228F811E4}" type="pres">
      <dgm:prSet presAssocID="{037ABD63-B3AE-456B-A07E-03C7B3EE18DD}" presName="textRect" presStyleLbl="revTx" presStyleIdx="3" presStyleCnt="5">
        <dgm:presLayoutVars>
          <dgm:chMax val="1"/>
          <dgm:chPref val="1"/>
        </dgm:presLayoutVars>
      </dgm:prSet>
      <dgm:spPr/>
    </dgm:pt>
    <dgm:pt modelId="{CD92BC96-84A2-401C-86EC-FB5A0E15602C}" type="pres">
      <dgm:prSet presAssocID="{95874220-E500-4241-9FAE-AA0AC32DFE6B}" presName="sibTrans" presStyleCnt="0"/>
      <dgm:spPr/>
    </dgm:pt>
    <dgm:pt modelId="{C7C985B0-EAF3-4C59-9E79-1FC11D1A0FF7}" type="pres">
      <dgm:prSet presAssocID="{BFA0FA44-7203-4892-A7CE-D7B06C394B98}" presName="compNode" presStyleCnt="0"/>
      <dgm:spPr/>
    </dgm:pt>
    <dgm:pt modelId="{42CDDBF6-4374-4073-A510-69BC5986EE79}" type="pres">
      <dgm:prSet presAssocID="{BFA0FA44-7203-4892-A7CE-D7B06C394B98}" presName="iconBgRect" presStyleLbl="bgShp" presStyleIdx="4" presStyleCnt="5"/>
      <dgm:spPr/>
    </dgm:pt>
    <dgm:pt modelId="{D625BF05-2C66-438A-969A-492985FC9C61}" type="pres">
      <dgm:prSet presAssocID="{BFA0FA44-7203-4892-A7CE-D7B06C394B98}"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Long sleeve shirt"/>
        </a:ext>
      </dgm:extLst>
    </dgm:pt>
    <dgm:pt modelId="{B2BEBA2B-AE41-4BFB-92FD-29B593ABEE51}" type="pres">
      <dgm:prSet presAssocID="{BFA0FA44-7203-4892-A7CE-D7B06C394B98}" presName="spaceRect" presStyleCnt="0"/>
      <dgm:spPr/>
    </dgm:pt>
    <dgm:pt modelId="{E859A9A9-AC69-495B-8254-DA7F55FFCFC2}" type="pres">
      <dgm:prSet presAssocID="{BFA0FA44-7203-4892-A7CE-D7B06C394B98}" presName="textRect" presStyleLbl="revTx" presStyleIdx="4" presStyleCnt="5">
        <dgm:presLayoutVars>
          <dgm:chMax val="1"/>
          <dgm:chPref val="1"/>
        </dgm:presLayoutVars>
      </dgm:prSet>
      <dgm:spPr/>
    </dgm:pt>
  </dgm:ptLst>
  <dgm:cxnLst>
    <dgm:cxn modelId="{CF716E08-8031-4F96-9DCE-9D93C46FB2BE}" type="presOf" srcId="{B48745C2-DB1C-46E4-8A83-317E023B3528}" destId="{1ECAE591-1A9A-4191-887E-1E1AF79C146C}" srcOrd="0" destOrd="0" presId="urn:microsoft.com/office/officeart/2018/5/layout/IconCircleLabelList"/>
    <dgm:cxn modelId="{6692DD21-4C66-45FF-A954-9438C72FA18D}" type="presOf" srcId="{23497830-1AC0-491B-B243-5212E6A64DA6}" destId="{30CC874D-132B-4273-AD7F-6249BEC1BDC0}" srcOrd="0" destOrd="0" presId="urn:microsoft.com/office/officeart/2018/5/layout/IconCircleLabelList"/>
    <dgm:cxn modelId="{B81F4D24-D359-449F-A300-873D1399C1F1}" srcId="{65AFEA78-B8FB-45CF-AA4A-4FADCC3CCCFC}" destId="{23497830-1AC0-491B-B243-5212E6A64DA6}" srcOrd="1" destOrd="0" parTransId="{30FF073B-2CC1-4720-BEB3-BC4423568EBB}" sibTransId="{EA3DC879-1AD6-4585-BB9C-4CDECD49EDCA}"/>
    <dgm:cxn modelId="{2B455B37-2729-444C-B409-403DC188BD08}" srcId="{65AFEA78-B8FB-45CF-AA4A-4FADCC3CCCFC}" destId="{037ABD63-B3AE-456B-A07E-03C7B3EE18DD}" srcOrd="3" destOrd="0" parTransId="{5154DD62-CA3D-4305-BF3A-3235841C0196}" sibTransId="{95874220-E500-4241-9FAE-AA0AC32DFE6B}"/>
    <dgm:cxn modelId="{7D2FF55C-6A86-4D40-8974-459DC06DFD40}" type="presOf" srcId="{BFA0FA44-7203-4892-A7CE-D7B06C394B98}" destId="{E859A9A9-AC69-495B-8254-DA7F55FFCFC2}" srcOrd="0" destOrd="0" presId="urn:microsoft.com/office/officeart/2018/5/layout/IconCircleLabelList"/>
    <dgm:cxn modelId="{D0AFD167-A2E5-43AB-ABE9-D46C51916778}" srcId="{65AFEA78-B8FB-45CF-AA4A-4FADCC3CCCFC}" destId="{BFA0FA44-7203-4892-A7CE-D7B06C394B98}" srcOrd="4" destOrd="0" parTransId="{D901356E-1119-4666-9CEC-6329F161AEAF}" sibTransId="{C038F30E-81AB-48DE-BCA0-A24CE34E4076}"/>
    <dgm:cxn modelId="{15D8AE52-E29C-4EEC-A660-6AE91A6D3C31}" srcId="{65AFEA78-B8FB-45CF-AA4A-4FADCC3CCCFC}" destId="{B48745C2-DB1C-46E4-8A83-317E023B3528}" srcOrd="0" destOrd="0" parTransId="{520D5345-26FA-404B-AF33-E0D8D8854EE5}" sibTransId="{75BECBF6-B781-4488-B934-638476B54838}"/>
    <dgm:cxn modelId="{B625DC82-2307-4A56-87AB-C870EEC50D12}" srcId="{65AFEA78-B8FB-45CF-AA4A-4FADCC3CCCFC}" destId="{74C016DD-5B0C-42C7-812B-D225362BAAA8}" srcOrd="2" destOrd="0" parTransId="{E0956136-B881-4716-B24F-16F8F1C09E1B}" sibTransId="{B5AA2CFE-32D8-4C29-BA9F-EEB2CFBAA067}"/>
    <dgm:cxn modelId="{E65739DE-B455-4E50-90E3-BED836C7E40E}" type="presOf" srcId="{74C016DD-5B0C-42C7-812B-D225362BAAA8}" destId="{A4CB4B6A-3A28-472E-8723-6B707B43ECEB}" srcOrd="0" destOrd="0" presId="urn:microsoft.com/office/officeart/2018/5/layout/IconCircleLabelList"/>
    <dgm:cxn modelId="{7FEB43EB-1451-42AE-97C4-23864DA9210D}" type="presOf" srcId="{037ABD63-B3AE-456B-A07E-03C7B3EE18DD}" destId="{79DA42CD-85C7-4F29-A894-EFF228F811E4}" srcOrd="0" destOrd="0" presId="urn:microsoft.com/office/officeart/2018/5/layout/IconCircleLabelList"/>
    <dgm:cxn modelId="{7E181AEC-1534-4025-9568-FB5081B349D9}" type="presOf" srcId="{65AFEA78-B8FB-45CF-AA4A-4FADCC3CCCFC}" destId="{25AA1804-D96D-42C7-AAF8-6577CC6750B0}" srcOrd="0" destOrd="0" presId="urn:microsoft.com/office/officeart/2018/5/layout/IconCircleLabelList"/>
    <dgm:cxn modelId="{D869AE8A-83B3-491F-9E7B-A70B5389CD45}" type="presParOf" srcId="{25AA1804-D96D-42C7-AAF8-6577CC6750B0}" destId="{1DFFAEBC-A827-461C-B40A-906825A2E957}" srcOrd="0" destOrd="0" presId="urn:microsoft.com/office/officeart/2018/5/layout/IconCircleLabelList"/>
    <dgm:cxn modelId="{DCA22B75-AD52-4BB7-A863-2A1CED3AE175}" type="presParOf" srcId="{1DFFAEBC-A827-461C-B40A-906825A2E957}" destId="{07D810A5-6149-47B7-9FF8-BC74C0BB9C25}" srcOrd="0" destOrd="0" presId="urn:microsoft.com/office/officeart/2018/5/layout/IconCircleLabelList"/>
    <dgm:cxn modelId="{EFC36A48-296C-4BAA-9026-7A8E6BB02137}" type="presParOf" srcId="{1DFFAEBC-A827-461C-B40A-906825A2E957}" destId="{47430272-5197-4010-B603-69DCA46A633B}" srcOrd="1" destOrd="0" presId="urn:microsoft.com/office/officeart/2018/5/layout/IconCircleLabelList"/>
    <dgm:cxn modelId="{2A2D2F44-DC24-4F18-96F1-1501F562C957}" type="presParOf" srcId="{1DFFAEBC-A827-461C-B40A-906825A2E957}" destId="{F654CE80-9BB8-480C-B18D-EF8BF5D277AC}" srcOrd="2" destOrd="0" presId="urn:microsoft.com/office/officeart/2018/5/layout/IconCircleLabelList"/>
    <dgm:cxn modelId="{6365BA41-5A2F-4205-BDB6-05BF9DCFA5D9}" type="presParOf" srcId="{1DFFAEBC-A827-461C-B40A-906825A2E957}" destId="{1ECAE591-1A9A-4191-887E-1E1AF79C146C}" srcOrd="3" destOrd="0" presId="urn:microsoft.com/office/officeart/2018/5/layout/IconCircleLabelList"/>
    <dgm:cxn modelId="{4D1A0A11-EEC4-4FA3-BB96-61C014E0DEF2}" type="presParOf" srcId="{25AA1804-D96D-42C7-AAF8-6577CC6750B0}" destId="{10AB402C-3E1B-4054-A6C7-1DE88EFC4C49}" srcOrd="1" destOrd="0" presId="urn:microsoft.com/office/officeart/2018/5/layout/IconCircleLabelList"/>
    <dgm:cxn modelId="{DD97BF2B-4781-48DD-8004-B391ED95BF2B}" type="presParOf" srcId="{25AA1804-D96D-42C7-AAF8-6577CC6750B0}" destId="{23AE8A24-544C-46FE-9A1A-811B858B2C94}" srcOrd="2" destOrd="0" presId="urn:microsoft.com/office/officeart/2018/5/layout/IconCircleLabelList"/>
    <dgm:cxn modelId="{C8198721-C0B8-4660-A2B1-4CE0E152C4BF}" type="presParOf" srcId="{23AE8A24-544C-46FE-9A1A-811B858B2C94}" destId="{74072388-D187-4BEC-8CD1-78CEBC023DDE}" srcOrd="0" destOrd="0" presId="urn:microsoft.com/office/officeart/2018/5/layout/IconCircleLabelList"/>
    <dgm:cxn modelId="{C268A372-5304-46E3-BEC9-A00BE9A192C6}" type="presParOf" srcId="{23AE8A24-544C-46FE-9A1A-811B858B2C94}" destId="{F8AD32F8-0562-46D3-AD1A-96F90A1D9E64}" srcOrd="1" destOrd="0" presId="urn:microsoft.com/office/officeart/2018/5/layout/IconCircleLabelList"/>
    <dgm:cxn modelId="{1679C83E-15C8-4EE9-95A8-E13EE05FF667}" type="presParOf" srcId="{23AE8A24-544C-46FE-9A1A-811B858B2C94}" destId="{2C193F37-DEAA-431F-B023-C79693E507DC}" srcOrd="2" destOrd="0" presId="urn:microsoft.com/office/officeart/2018/5/layout/IconCircleLabelList"/>
    <dgm:cxn modelId="{3260C5DD-CCE5-44BD-B67E-BB7968D9ACBE}" type="presParOf" srcId="{23AE8A24-544C-46FE-9A1A-811B858B2C94}" destId="{30CC874D-132B-4273-AD7F-6249BEC1BDC0}" srcOrd="3" destOrd="0" presId="urn:microsoft.com/office/officeart/2018/5/layout/IconCircleLabelList"/>
    <dgm:cxn modelId="{1DD80569-9AC6-4856-BC87-0031B1806147}" type="presParOf" srcId="{25AA1804-D96D-42C7-AAF8-6577CC6750B0}" destId="{5668EAF6-DB26-4D4E-A52E-3DB6958B842E}" srcOrd="3" destOrd="0" presId="urn:microsoft.com/office/officeart/2018/5/layout/IconCircleLabelList"/>
    <dgm:cxn modelId="{C8E0C25A-D59D-455D-85CB-5D28B38CCF18}" type="presParOf" srcId="{25AA1804-D96D-42C7-AAF8-6577CC6750B0}" destId="{72B7EEA2-780D-4DF0-978F-955DFD5BC30F}" srcOrd="4" destOrd="0" presId="urn:microsoft.com/office/officeart/2018/5/layout/IconCircleLabelList"/>
    <dgm:cxn modelId="{6CAD0A3F-7038-42A1-98F6-0DE4400EC485}" type="presParOf" srcId="{72B7EEA2-780D-4DF0-978F-955DFD5BC30F}" destId="{C29E068A-0148-4D44-A40B-1BB823D45928}" srcOrd="0" destOrd="0" presId="urn:microsoft.com/office/officeart/2018/5/layout/IconCircleLabelList"/>
    <dgm:cxn modelId="{9F9FED6E-9C82-4378-A89C-FCCE2F9A60AF}" type="presParOf" srcId="{72B7EEA2-780D-4DF0-978F-955DFD5BC30F}" destId="{04620F55-9D69-4138-8360-31204C03E753}" srcOrd="1" destOrd="0" presId="urn:microsoft.com/office/officeart/2018/5/layout/IconCircleLabelList"/>
    <dgm:cxn modelId="{F4AD8636-E8B4-4215-8E0D-AB54C71F247D}" type="presParOf" srcId="{72B7EEA2-780D-4DF0-978F-955DFD5BC30F}" destId="{1E5A724E-52AB-4AB9-A938-0229B54EA3B8}" srcOrd="2" destOrd="0" presId="urn:microsoft.com/office/officeart/2018/5/layout/IconCircleLabelList"/>
    <dgm:cxn modelId="{C22F4C87-FFD3-4503-89B8-B7B8F97265E9}" type="presParOf" srcId="{72B7EEA2-780D-4DF0-978F-955DFD5BC30F}" destId="{A4CB4B6A-3A28-472E-8723-6B707B43ECEB}" srcOrd="3" destOrd="0" presId="urn:microsoft.com/office/officeart/2018/5/layout/IconCircleLabelList"/>
    <dgm:cxn modelId="{590B53FE-06C2-4A33-B507-81DF9928F270}" type="presParOf" srcId="{25AA1804-D96D-42C7-AAF8-6577CC6750B0}" destId="{DC0B4F05-7413-48F7-A045-73AE8FE55BD6}" srcOrd="5" destOrd="0" presId="urn:microsoft.com/office/officeart/2018/5/layout/IconCircleLabelList"/>
    <dgm:cxn modelId="{D21E529E-E527-48B8-A0B1-1C5022987FA2}" type="presParOf" srcId="{25AA1804-D96D-42C7-AAF8-6577CC6750B0}" destId="{6C8EE519-FAF9-4F13-BBCA-D7BD1F079206}" srcOrd="6" destOrd="0" presId="urn:microsoft.com/office/officeart/2018/5/layout/IconCircleLabelList"/>
    <dgm:cxn modelId="{509AF2A0-6151-4EE9-89D2-E650357848B3}" type="presParOf" srcId="{6C8EE519-FAF9-4F13-BBCA-D7BD1F079206}" destId="{EAEA63A1-8183-44E9-B5F4-E4A031A862C8}" srcOrd="0" destOrd="0" presId="urn:microsoft.com/office/officeart/2018/5/layout/IconCircleLabelList"/>
    <dgm:cxn modelId="{5C83152D-B949-47FA-91AD-E829FA5FADC1}" type="presParOf" srcId="{6C8EE519-FAF9-4F13-BBCA-D7BD1F079206}" destId="{281676F4-908F-4FD5-A93B-DA78087C394A}" srcOrd="1" destOrd="0" presId="urn:microsoft.com/office/officeart/2018/5/layout/IconCircleLabelList"/>
    <dgm:cxn modelId="{7D3EACB0-32C3-44DD-AF11-115281454C5B}" type="presParOf" srcId="{6C8EE519-FAF9-4F13-BBCA-D7BD1F079206}" destId="{F36817E8-A250-4438-9719-15F822861648}" srcOrd="2" destOrd="0" presId="urn:microsoft.com/office/officeart/2018/5/layout/IconCircleLabelList"/>
    <dgm:cxn modelId="{2BE287D2-522E-48F7-B993-699833F0811E}" type="presParOf" srcId="{6C8EE519-FAF9-4F13-BBCA-D7BD1F079206}" destId="{79DA42CD-85C7-4F29-A894-EFF228F811E4}" srcOrd="3" destOrd="0" presId="urn:microsoft.com/office/officeart/2018/5/layout/IconCircleLabelList"/>
    <dgm:cxn modelId="{EB98C8DF-1BF1-48DC-8E5E-6602AE5FC21F}" type="presParOf" srcId="{25AA1804-D96D-42C7-AAF8-6577CC6750B0}" destId="{CD92BC96-84A2-401C-86EC-FB5A0E15602C}" srcOrd="7" destOrd="0" presId="urn:microsoft.com/office/officeart/2018/5/layout/IconCircleLabelList"/>
    <dgm:cxn modelId="{4CD13E78-4FD7-4F1C-8A72-2B53AA616EBA}" type="presParOf" srcId="{25AA1804-D96D-42C7-AAF8-6577CC6750B0}" destId="{C7C985B0-EAF3-4C59-9E79-1FC11D1A0FF7}" srcOrd="8" destOrd="0" presId="urn:microsoft.com/office/officeart/2018/5/layout/IconCircleLabelList"/>
    <dgm:cxn modelId="{26B3AFBC-A051-4588-B9E0-BE0B9F31708C}" type="presParOf" srcId="{C7C985B0-EAF3-4C59-9E79-1FC11D1A0FF7}" destId="{42CDDBF6-4374-4073-A510-69BC5986EE79}" srcOrd="0" destOrd="0" presId="urn:microsoft.com/office/officeart/2018/5/layout/IconCircleLabelList"/>
    <dgm:cxn modelId="{F74D1CDD-D1B0-4E1E-8B75-675C6099834E}" type="presParOf" srcId="{C7C985B0-EAF3-4C59-9E79-1FC11D1A0FF7}" destId="{D625BF05-2C66-438A-969A-492985FC9C61}" srcOrd="1" destOrd="0" presId="urn:microsoft.com/office/officeart/2018/5/layout/IconCircleLabelList"/>
    <dgm:cxn modelId="{61165F7F-915A-43FE-A439-27997B415E05}" type="presParOf" srcId="{C7C985B0-EAF3-4C59-9E79-1FC11D1A0FF7}" destId="{B2BEBA2B-AE41-4BFB-92FD-29B593ABEE51}" srcOrd="2" destOrd="0" presId="urn:microsoft.com/office/officeart/2018/5/layout/IconCircleLabelList"/>
    <dgm:cxn modelId="{ECCAF9DA-4875-4D4C-9747-EF3B7FF8B888}" type="presParOf" srcId="{C7C985B0-EAF3-4C59-9E79-1FC11D1A0FF7}" destId="{E859A9A9-AC69-495B-8254-DA7F55FFCFC2}"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55D1F4F-332C-4E39-8A6E-CF39C50E2031}" type="doc">
      <dgm:prSet loTypeId="urn:microsoft.com/office/officeart/2018/5/layout/IconLeafLabelList" loCatId="icon" qsTypeId="urn:microsoft.com/office/officeart/2005/8/quickstyle/simple1" qsCatId="simple" csTypeId="urn:microsoft.com/office/officeart/2018/5/colors/Iconchunking_neutralbg_accent0_3" csCatId="mainScheme" phldr="1"/>
      <dgm:spPr/>
      <dgm:t>
        <a:bodyPr/>
        <a:lstStyle/>
        <a:p>
          <a:endParaRPr lang="en-US"/>
        </a:p>
      </dgm:t>
    </dgm:pt>
    <dgm:pt modelId="{FC0EC027-CC24-4637-A0F3-728655AECBE9}">
      <dgm:prSet/>
      <dgm:spPr/>
      <dgm:t>
        <a:bodyPr/>
        <a:lstStyle/>
        <a:p>
          <a:pPr>
            <a:lnSpc>
              <a:spcPct val="100000"/>
            </a:lnSpc>
            <a:defRPr cap="all"/>
          </a:pPr>
          <a:r>
            <a:rPr lang="en-US" b="1" i="0" baseline="0"/>
            <a:t>Revenue &amp; Volume:</a:t>
          </a:r>
          <a:r>
            <a:rPr lang="en-US" b="0" i="0" baseline="0"/>
            <a:t> Total revenue stands at </a:t>
          </a:r>
          <a:r>
            <a:rPr lang="en-US" b="1" i="0" baseline="0"/>
            <a:t>$5.5M</a:t>
          </a:r>
          <a:r>
            <a:rPr lang="en-US" b="0" i="0" baseline="0"/>
            <a:t> with a total quantity sold of 1</a:t>
          </a:r>
          <a:r>
            <a:rPr lang="en-US" b="1"/>
            <a:t>5</a:t>
          </a:r>
          <a:r>
            <a:rPr lang="en-US" b="1" i="0" baseline="0"/>
            <a:t>0K</a:t>
          </a:r>
          <a:r>
            <a:rPr lang="en-US" b="0" i="0" baseline="0"/>
            <a:t> units. The Average Order Value (AOV) is </a:t>
          </a:r>
          <a:r>
            <a:rPr lang="en-US" b="1" i="0" baseline="0"/>
            <a:t>$659</a:t>
          </a:r>
          <a:r>
            <a:rPr lang="en-US" b="0" i="0" baseline="0"/>
            <a:t>.</a:t>
          </a:r>
          <a:endParaRPr lang="en-US"/>
        </a:p>
      </dgm:t>
    </dgm:pt>
    <dgm:pt modelId="{4BB9BD1C-7DEF-478A-8206-8FAF05B9A7C6}" type="parTrans" cxnId="{665F9E31-63AA-4E36-9331-0895F811B538}">
      <dgm:prSet/>
      <dgm:spPr/>
      <dgm:t>
        <a:bodyPr/>
        <a:lstStyle/>
        <a:p>
          <a:endParaRPr lang="en-US"/>
        </a:p>
      </dgm:t>
    </dgm:pt>
    <dgm:pt modelId="{B934B966-8F9E-4D0D-8BB2-0F3DA8B86063}" type="sibTrans" cxnId="{665F9E31-63AA-4E36-9331-0895F811B538}">
      <dgm:prSet/>
      <dgm:spPr/>
      <dgm:t>
        <a:bodyPr/>
        <a:lstStyle/>
        <a:p>
          <a:endParaRPr lang="en-US"/>
        </a:p>
      </dgm:t>
    </dgm:pt>
    <dgm:pt modelId="{C16571AD-6DCA-458D-9032-72730CAA76DE}">
      <dgm:prSet/>
      <dgm:spPr/>
      <dgm:t>
        <a:bodyPr/>
        <a:lstStyle/>
        <a:p>
          <a:pPr>
            <a:lnSpc>
              <a:spcPct val="100000"/>
            </a:lnSpc>
            <a:defRPr cap="all"/>
          </a:pPr>
          <a:r>
            <a:rPr lang="en-US" b="1" i="0" baseline="0"/>
            <a:t>Discount Penetration:</a:t>
          </a:r>
          <a:r>
            <a:rPr lang="en-US" b="0" i="0" baseline="0"/>
            <a:t> A staggering </a:t>
          </a:r>
          <a:r>
            <a:rPr lang="en-US" b="1" i="0" baseline="0"/>
            <a:t>83.7%</a:t>
          </a:r>
          <a:r>
            <a:rPr lang="en-US" b="0" i="0" baseline="0"/>
            <a:t> of all quantities sold are discounted. In the </a:t>
          </a:r>
          <a:r>
            <a:rPr lang="en-US" b="1" i="0" baseline="0"/>
            <a:t>Books</a:t>
          </a:r>
          <a:r>
            <a:rPr lang="en-US" b="0" i="0" baseline="0"/>
            <a:t> category specifically, this rises slightly to </a:t>
          </a:r>
          <a:r>
            <a:rPr lang="en-US" b="1" i="0" baseline="0"/>
            <a:t>83.74%</a:t>
          </a:r>
          <a:r>
            <a:rPr lang="en-US" b="0" i="0" baseline="0"/>
            <a:t>.</a:t>
          </a:r>
          <a:endParaRPr lang="en-US"/>
        </a:p>
      </dgm:t>
    </dgm:pt>
    <dgm:pt modelId="{99B723A6-8B5B-4448-91CC-7615C0B9C87A}" type="parTrans" cxnId="{7EC2FDED-A734-4AE1-A2CE-D18A720FB4C4}">
      <dgm:prSet/>
      <dgm:spPr/>
      <dgm:t>
        <a:bodyPr/>
        <a:lstStyle/>
        <a:p>
          <a:endParaRPr lang="en-US"/>
        </a:p>
      </dgm:t>
    </dgm:pt>
    <dgm:pt modelId="{02DF31B1-C350-41EE-AFCA-48FCEB637284}" type="sibTrans" cxnId="{7EC2FDED-A734-4AE1-A2CE-D18A720FB4C4}">
      <dgm:prSet/>
      <dgm:spPr/>
      <dgm:t>
        <a:bodyPr/>
        <a:lstStyle/>
        <a:p>
          <a:endParaRPr lang="en-US"/>
        </a:p>
      </dgm:t>
    </dgm:pt>
    <dgm:pt modelId="{EA65B24A-26AA-4982-9279-77B62E83F09A}">
      <dgm:prSet/>
      <dgm:spPr/>
      <dgm:t>
        <a:bodyPr/>
        <a:lstStyle/>
        <a:p>
          <a:pPr>
            <a:lnSpc>
              <a:spcPct val="100000"/>
            </a:lnSpc>
            <a:defRPr cap="all"/>
          </a:pPr>
          <a:r>
            <a:rPr lang="en-US" b="1" i="0" baseline="0"/>
            <a:t>Category Performance:</a:t>
          </a:r>
          <a:r>
            <a:rPr lang="en-US" b="0" i="0" baseline="0"/>
            <a:t> </a:t>
          </a:r>
          <a:r>
            <a:rPr lang="en-US" b="1" i="0" baseline="0"/>
            <a:t>Beauty</a:t>
          </a:r>
          <a:r>
            <a:rPr lang="en-US" b="0" i="0" baseline="0"/>
            <a:t> leads in both total quantity and discount totals, followed by Books. </a:t>
          </a:r>
          <a:r>
            <a:rPr lang="en-US" b="1" i="0" baseline="0"/>
            <a:t>Home &amp; Kitchen</a:t>
          </a:r>
          <a:r>
            <a:rPr lang="en-US" i="0" baseline="0"/>
            <a:t> </a:t>
          </a:r>
          <a:r>
            <a:rPr lang="en-US" b="0" i="0" baseline="0"/>
            <a:t>sits at the bottom of the volume scale.</a:t>
          </a:r>
          <a:endParaRPr lang="en-US"/>
        </a:p>
      </dgm:t>
    </dgm:pt>
    <dgm:pt modelId="{C8628BE4-B429-43F0-87FE-2E15B5994BC7}" type="parTrans" cxnId="{E5CF16D4-492C-47B0-B563-F12A5322EB27}">
      <dgm:prSet/>
      <dgm:spPr/>
      <dgm:t>
        <a:bodyPr/>
        <a:lstStyle/>
        <a:p>
          <a:endParaRPr lang="en-US"/>
        </a:p>
      </dgm:t>
    </dgm:pt>
    <dgm:pt modelId="{C11D969F-6487-42F2-AAAF-1EFD5158C613}" type="sibTrans" cxnId="{E5CF16D4-492C-47B0-B563-F12A5322EB27}">
      <dgm:prSet/>
      <dgm:spPr/>
      <dgm:t>
        <a:bodyPr/>
        <a:lstStyle/>
        <a:p>
          <a:endParaRPr lang="en-US"/>
        </a:p>
      </dgm:t>
    </dgm:pt>
    <dgm:pt modelId="{72424CDF-8CBD-4C2F-954F-AC3A2D2C6A4D}">
      <dgm:prSet/>
      <dgm:spPr/>
      <dgm:t>
        <a:bodyPr/>
        <a:lstStyle/>
        <a:p>
          <a:pPr>
            <a:lnSpc>
              <a:spcPct val="100000"/>
            </a:lnSpc>
            <a:defRPr cap="all"/>
          </a:pPr>
          <a:r>
            <a:rPr lang="en-US" b="1" i="0" baseline="0"/>
            <a:t>Discount Distribution:</a:t>
          </a:r>
          <a:r>
            <a:rPr lang="en-US" b="0" i="0" baseline="0"/>
            <a:t> The "Quantity by Discount" donut chart shows an almost perfectly even split across discount slabs (0%, 5%, 10%, 15%, 20%, 30%), each hovering around </a:t>
          </a:r>
          <a:r>
            <a:rPr lang="en-US" b="1" i="0" baseline="0"/>
            <a:t>2.6% to 2.9%</a:t>
          </a:r>
          <a:r>
            <a:rPr lang="en-US" b="0" i="0" baseline="0"/>
            <a:t> of the total.</a:t>
          </a:r>
          <a:endParaRPr lang="en-US"/>
        </a:p>
      </dgm:t>
    </dgm:pt>
    <dgm:pt modelId="{85E5A834-38C2-4D7B-B4BB-8D3D9BC915C1}" type="parTrans" cxnId="{6C5F4C88-3497-4E44-B56A-EB2E0071C824}">
      <dgm:prSet/>
      <dgm:spPr/>
      <dgm:t>
        <a:bodyPr/>
        <a:lstStyle/>
        <a:p>
          <a:endParaRPr lang="en-US"/>
        </a:p>
      </dgm:t>
    </dgm:pt>
    <dgm:pt modelId="{4E810517-66A7-42AF-BFA2-647735800751}" type="sibTrans" cxnId="{6C5F4C88-3497-4E44-B56A-EB2E0071C824}">
      <dgm:prSet/>
      <dgm:spPr/>
      <dgm:t>
        <a:bodyPr/>
        <a:lstStyle/>
        <a:p>
          <a:endParaRPr lang="en-US"/>
        </a:p>
      </dgm:t>
    </dgm:pt>
    <dgm:pt modelId="{5BE2DA29-FC56-4E39-97CF-CDC756AF4B71}" type="pres">
      <dgm:prSet presAssocID="{255D1F4F-332C-4E39-8A6E-CF39C50E2031}" presName="root" presStyleCnt="0">
        <dgm:presLayoutVars>
          <dgm:dir/>
          <dgm:resizeHandles val="exact"/>
        </dgm:presLayoutVars>
      </dgm:prSet>
      <dgm:spPr/>
    </dgm:pt>
    <dgm:pt modelId="{1A04FD72-2064-4CCB-9A89-E744927627F0}" type="pres">
      <dgm:prSet presAssocID="{FC0EC027-CC24-4637-A0F3-728655AECBE9}" presName="compNode" presStyleCnt="0"/>
      <dgm:spPr/>
    </dgm:pt>
    <dgm:pt modelId="{143E4706-68D5-4823-B3D9-52817484D24C}" type="pres">
      <dgm:prSet presAssocID="{FC0EC027-CC24-4637-A0F3-728655AECBE9}" presName="iconBgRect" presStyleLbl="bgShp" presStyleIdx="0" presStyleCnt="4"/>
      <dgm:spPr>
        <a:prstGeom prst="round2DiagRect">
          <a:avLst>
            <a:gd name="adj1" fmla="val 29727"/>
            <a:gd name="adj2" fmla="val 0"/>
          </a:avLst>
        </a:prstGeom>
      </dgm:spPr>
    </dgm:pt>
    <dgm:pt modelId="{CD1FA123-5BB2-464D-AB8E-808ECDEE6844}" type="pres">
      <dgm:prSet presAssocID="{FC0EC027-CC24-4637-A0F3-728655AECBE9}"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llar"/>
        </a:ext>
      </dgm:extLst>
    </dgm:pt>
    <dgm:pt modelId="{FC9F4320-7CB9-4F48-85E6-752D059EA426}" type="pres">
      <dgm:prSet presAssocID="{FC0EC027-CC24-4637-A0F3-728655AECBE9}" presName="spaceRect" presStyleCnt="0"/>
      <dgm:spPr/>
    </dgm:pt>
    <dgm:pt modelId="{240E4183-BC11-474B-89BA-260B16A8D72C}" type="pres">
      <dgm:prSet presAssocID="{FC0EC027-CC24-4637-A0F3-728655AECBE9}" presName="textRect" presStyleLbl="revTx" presStyleIdx="0" presStyleCnt="4">
        <dgm:presLayoutVars>
          <dgm:chMax val="1"/>
          <dgm:chPref val="1"/>
        </dgm:presLayoutVars>
      </dgm:prSet>
      <dgm:spPr/>
    </dgm:pt>
    <dgm:pt modelId="{CD9630DD-7B28-430C-B95A-A0A096EEC50F}" type="pres">
      <dgm:prSet presAssocID="{B934B966-8F9E-4D0D-8BB2-0F3DA8B86063}" presName="sibTrans" presStyleCnt="0"/>
      <dgm:spPr/>
    </dgm:pt>
    <dgm:pt modelId="{1159EECF-B76E-4D33-AACC-D47DB2BE53ED}" type="pres">
      <dgm:prSet presAssocID="{C16571AD-6DCA-458D-9032-72730CAA76DE}" presName="compNode" presStyleCnt="0"/>
      <dgm:spPr/>
    </dgm:pt>
    <dgm:pt modelId="{A4B724B3-A3DA-456B-B3D8-D7B16A243F26}" type="pres">
      <dgm:prSet presAssocID="{C16571AD-6DCA-458D-9032-72730CAA76DE}" presName="iconBgRect" presStyleLbl="bgShp" presStyleIdx="1" presStyleCnt="4"/>
      <dgm:spPr>
        <a:prstGeom prst="round2DiagRect">
          <a:avLst>
            <a:gd name="adj1" fmla="val 29727"/>
            <a:gd name="adj2" fmla="val 0"/>
          </a:avLst>
        </a:prstGeom>
      </dgm:spPr>
    </dgm:pt>
    <dgm:pt modelId="{572AF16F-0023-4979-A6EF-7D0C32DE8E48}" type="pres">
      <dgm:prSet presAssocID="{C16571AD-6DCA-458D-9032-72730CAA76DE}"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Yuan"/>
        </a:ext>
      </dgm:extLst>
    </dgm:pt>
    <dgm:pt modelId="{C9ECD7A3-5360-4466-B7D4-E1DD62AEDDE9}" type="pres">
      <dgm:prSet presAssocID="{C16571AD-6DCA-458D-9032-72730CAA76DE}" presName="spaceRect" presStyleCnt="0"/>
      <dgm:spPr/>
    </dgm:pt>
    <dgm:pt modelId="{B721945C-D942-468A-BC1E-E9AC776F1889}" type="pres">
      <dgm:prSet presAssocID="{C16571AD-6DCA-458D-9032-72730CAA76DE}" presName="textRect" presStyleLbl="revTx" presStyleIdx="1" presStyleCnt="4">
        <dgm:presLayoutVars>
          <dgm:chMax val="1"/>
          <dgm:chPref val="1"/>
        </dgm:presLayoutVars>
      </dgm:prSet>
      <dgm:spPr/>
    </dgm:pt>
    <dgm:pt modelId="{E81B8108-3A5C-4B95-A8FD-93A88C7C4E55}" type="pres">
      <dgm:prSet presAssocID="{02DF31B1-C350-41EE-AFCA-48FCEB637284}" presName="sibTrans" presStyleCnt="0"/>
      <dgm:spPr/>
    </dgm:pt>
    <dgm:pt modelId="{03BCDA05-8302-42EA-A909-B1429D108B11}" type="pres">
      <dgm:prSet presAssocID="{EA65B24A-26AA-4982-9279-77B62E83F09A}" presName="compNode" presStyleCnt="0"/>
      <dgm:spPr/>
    </dgm:pt>
    <dgm:pt modelId="{A4109A8B-9860-4B49-805D-1769D9FF3F7D}" type="pres">
      <dgm:prSet presAssocID="{EA65B24A-26AA-4982-9279-77B62E83F09A}" presName="iconBgRect" presStyleLbl="bgShp" presStyleIdx="2" presStyleCnt="4"/>
      <dgm:spPr>
        <a:prstGeom prst="round2DiagRect">
          <a:avLst>
            <a:gd name="adj1" fmla="val 29727"/>
            <a:gd name="adj2" fmla="val 0"/>
          </a:avLst>
        </a:prstGeom>
      </dgm:spPr>
    </dgm:pt>
    <dgm:pt modelId="{F8E8D8A5-0425-4695-8CCE-4AA72FC19240}" type="pres">
      <dgm:prSet presAssocID="{EA65B24A-26AA-4982-9279-77B62E83F09A}"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ooks"/>
        </a:ext>
      </dgm:extLst>
    </dgm:pt>
    <dgm:pt modelId="{26085A90-206B-454C-888D-2619415E054B}" type="pres">
      <dgm:prSet presAssocID="{EA65B24A-26AA-4982-9279-77B62E83F09A}" presName="spaceRect" presStyleCnt="0"/>
      <dgm:spPr/>
    </dgm:pt>
    <dgm:pt modelId="{009F4465-2C62-4DEF-91AF-ABAE6FEA2C52}" type="pres">
      <dgm:prSet presAssocID="{EA65B24A-26AA-4982-9279-77B62E83F09A}" presName="textRect" presStyleLbl="revTx" presStyleIdx="2" presStyleCnt="4">
        <dgm:presLayoutVars>
          <dgm:chMax val="1"/>
          <dgm:chPref val="1"/>
        </dgm:presLayoutVars>
      </dgm:prSet>
      <dgm:spPr/>
    </dgm:pt>
    <dgm:pt modelId="{EB1AC62D-BF34-4169-81C5-A4FD4E16B165}" type="pres">
      <dgm:prSet presAssocID="{C11D969F-6487-42F2-AAAF-1EFD5158C613}" presName="sibTrans" presStyleCnt="0"/>
      <dgm:spPr/>
    </dgm:pt>
    <dgm:pt modelId="{500E56AF-1C66-47E9-A0E9-5FD5FBD6AE50}" type="pres">
      <dgm:prSet presAssocID="{72424CDF-8CBD-4C2F-954F-AC3A2D2C6A4D}" presName="compNode" presStyleCnt="0"/>
      <dgm:spPr/>
    </dgm:pt>
    <dgm:pt modelId="{ADD0CD38-9A24-4E3E-898D-BA039B8D83CE}" type="pres">
      <dgm:prSet presAssocID="{72424CDF-8CBD-4C2F-954F-AC3A2D2C6A4D}" presName="iconBgRect" presStyleLbl="bgShp" presStyleIdx="3" presStyleCnt="4"/>
      <dgm:spPr>
        <a:prstGeom prst="round2DiagRect">
          <a:avLst>
            <a:gd name="adj1" fmla="val 29727"/>
            <a:gd name="adj2" fmla="val 0"/>
          </a:avLst>
        </a:prstGeom>
      </dgm:spPr>
    </dgm:pt>
    <dgm:pt modelId="{C27B1C80-E65A-4BF9-A5B4-1C049E5D17B2}" type="pres">
      <dgm:prSet presAssocID="{72424CDF-8CBD-4C2F-954F-AC3A2D2C6A4D}"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Traffic cone"/>
        </a:ext>
      </dgm:extLst>
    </dgm:pt>
    <dgm:pt modelId="{CF47FEDB-362D-4DDE-B671-B2B867EDDB6B}" type="pres">
      <dgm:prSet presAssocID="{72424CDF-8CBD-4C2F-954F-AC3A2D2C6A4D}" presName="spaceRect" presStyleCnt="0"/>
      <dgm:spPr/>
    </dgm:pt>
    <dgm:pt modelId="{2DEB5423-6C6B-4709-BDDF-236101D8E79A}" type="pres">
      <dgm:prSet presAssocID="{72424CDF-8CBD-4C2F-954F-AC3A2D2C6A4D}" presName="textRect" presStyleLbl="revTx" presStyleIdx="3" presStyleCnt="4">
        <dgm:presLayoutVars>
          <dgm:chMax val="1"/>
          <dgm:chPref val="1"/>
        </dgm:presLayoutVars>
      </dgm:prSet>
      <dgm:spPr/>
    </dgm:pt>
  </dgm:ptLst>
  <dgm:cxnLst>
    <dgm:cxn modelId="{665F9E31-63AA-4E36-9331-0895F811B538}" srcId="{255D1F4F-332C-4E39-8A6E-CF39C50E2031}" destId="{FC0EC027-CC24-4637-A0F3-728655AECBE9}" srcOrd="0" destOrd="0" parTransId="{4BB9BD1C-7DEF-478A-8206-8FAF05B9A7C6}" sibTransId="{B934B966-8F9E-4D0D-8BB2-0F3DA8B86063}"/>
    <dgm:cxn modelId="{CDA79F78-6223-4484-8B36-70BB04D8E153}" type="presOf" srcId="{72424CDF-8CBD-4C2F-954F-AC3A2D2C6A4D}" destId="{2DEB5423-6C6B-4709-BDDF-236101D8E79A}" srcOrd="0" destOrd="0" presId="urn:microsoft.com/office/officeart/2018/5/layout/IconLeafLabelList"/>
    <dgm:cxn modelId="{6C5F4C88-3497-4E44-B56A-EB2E0071C824}" srcId="{255D1F4F-332C-4E39-8A6E-CF39C50E2031}" destId="{72424CDF-8CBD-4C2F-954F-AC3A2D2C6A4D}" srcOrd="3" destOrd="0" parTransId="{85E5A834-38C2-4D7B-B4BB-8D3D9BC915C1}" sibTransId="{4E810517-66A7-42AF-BFA2-647735800751}"/>
    <dgm:cxn modelId="{3FDC2CA4-F87C-4FA1-8FAF-A08F7C246011}" type="presOf" srcId="{FC0EC027-CC24-4637-A0F3-728655AECBE9}" destId="{240E4183-BC11-474B-89BA-260B16A8D72C}" srcOrd="0" destOrd="0" presId="urn:microsoft.com/office/officeart/2018/5/layout/IconLeafLabelList"/>
    <dgm:cxn modelId="{66B87DA5-2A7C-4CAB-BF0C-79A57B65CE85}" type="presOf" srcId="{EA65B24A-26AA-4982-9279-77B62E83F09A}" destId="{009F4465-2C62-4DEF-91AF-ABAE6FEA2C52}" srcOrd="0" destOrd="0" presId="urn:microsoft.com/office/officeart/2018/5/layout/IconLeafLabelList"/>
    <dgm:cxn modelId="{EC41ACD3-8BD7-4876-9BF0-373D32710DA9}" type="presOf" srcId="{255D1F4F-332C-4E39-8A6E-CF39C50E2031}" destId="{5BE2DA29-FC56-4E39-97CF-CDC756AF4B71}" srcOrd="0" destOrd="0" presId="urn:microsoft.com/office/officeart/2018/5/layout/IconLeafLabelList"/>
    <dgm:cxn modelId="{E5CF16D4-492C-47B0-B563-F12A5322EB27}" srcId="{255D1F4F-332C-4E39-8A6E-CF39C50E2031}" destId="{EA65B24A-26AA-4982-9279-77B62E83F09A}" srcOrd="2" destOrd="0" parTransId="{C8628BE4-B429-43F0-87FE-2E15B5994BC7}" sibTransId="{C11D969F-6487-42F2-AAAF-1EFD5158C613}"/>
    <dgm:cxn modelId="{7EC2FDED-A734-4AE1-A2CE-D18A720FB4C4}" srcId="{255D1F4F-332C-4E39-8A6E-CF39C50E2031}" destId="{C16571AD-6DCA-458D-9032-72730CAA76DE}" srcOrd="1" destOrd="0" parTransId="{99B723A6-8B5B-4448-91CC-7615C0B9C87A}" sibTransId="{02DF31B1-C350-41EE-AFCA-48FCEB637284}"/>
    <dgm:cxn modelId="{442A0CFE-C2D4-43CC-8DDD-158AD69473DA}" type="presOf" srcId="{C16571AD-6DCA-458D-9032-72730CAA76DE}" destId="{B721945C-D942-468A-BC1E-E9AC776F1889}" srcOrd="0" destOrd="0" presId="urn:microsoft.com/office/officeart/2018/5/layout/IconLeafLabelList"/>
    <dgm:cxn modelId="{C7CAE3ED-E6C0-48C4-8B65-A1B3E4958EAB}" type="presParOf" srcId="{5BE2DA29-FC56-4E39-97CF-CDC756AF4B71}" destId="{1A04FD72-2064-4CCB-9A89-E744927627F0}" srcOrd="0" destOrd="0" presId="urn:microsoft.com/office/officeart/2018/5/layout/IconLeafLabelList"/>
    <dgm:cxn modelId="{A4C3DEFD-8AEE-4BDC-91E0-922B95913AD0}" type="presParOf" srcId="{1A04FD72-2064-4CCB-9A89-E744927627F0}" destId="{143E4706-68D5-4823-B3D9-52817484D24C}" srcOrd="0" destOrd="0" presId="urn:microsoft.com/office/officeart/2018/5/layout/IconLeafLabelList"/>
    <dgm:cxn modelId="{1A06254E-EF72-4E41-8068-977EC53E477E}" type="presParOf" srcId="{1A04FD72-2064-4CCB-9A89-E744927627F0}" destId="{CD1FA123-5BB2-464D-AB8E-808ECDEE6844}" srcOrd="1" destOrd="0" presId="urn:microsoft.com/office/officeart/2018/5/layout/IconLeafLabelList"/>
    <dgm:cxn modelId="{BCD6E888-56D8-49E2-8077-570181A8A702}" type="presParOf" srcId="{1A04FD72-2064-4CCB-9A89-E744927627F0}" destId="{FC9F4320-7CB9-4F48-85E6-752D059EA426}" srcOrd="2" destOrd="0" presId="urn:microsoft.com/office/officeart/2018/5/layout/IconLeafLabelList"/>
    <dgm:cxn modelId="{5168E92A-0A97-4170-AB71-081BB2BB1B34}" type="presParOf" srcId="{1A04FD72-2064-4CCB-9A89-E744927627F0}" destId="{240E4183-BC11-474B-89BA-260B16A8D72C}" srcOrd="3" destOrd="0" presId="urn:microsoft.com/office/officeart/2018/5/layout/IconLeafLabelList"/>
    <dgm:cxn modelId="{4F31DCA9-A50C-47A2-A86C-35DE2EDF8646}" type="presParOf" srcId="{5BE2DA29-FC56-4E39-97CF-CDC756AF4B71}" destId="{CD9630DD-7B28-430C-B95A-A0A096EEC50F}" srcOrd="1" destOrd="0" presId="urn:microsoft.com/office/officeart/2018/5/layout/IconLeafLabelList"/>
    <dgm:cxn modelId="{50C64FBB-7318-4DB4-AC4C-5313175D85E6}" type="presParOf" srcId="{5BE2DA29-FC56-4E39-97CF-CDC756AF4B71}" destId="{1159EECF-B76E-4D33-AACC-D47DB2BE53ED}" srcOrd="2" destOrd="0" presId="urn:microsoft.com/office/officeart/2018/5/layout/IconLeafLabelList"/>
    <dgm:cxn modelId="{53E0D131-3636-43BA-8E45-97E3274FB743}" type="presParOf" srcId="{1159EECF-B76E-4D33-AACC-D47DB2BE53ED}" destId="{A4B724B3-A3DA-456B-B3D8-D7B16A243F26}" srcOrd="0" destOrd="0" presId="urn:microsoft.com/office/officeart/2018/5/layout/IconLeafLabelList"/>
    <dgm:cxn modelId="{0BF65EC8-BFF4-4126-B362-9F254698D5E0}" type="presParOf" srcId="{1159EECF-B76E-4D33-AACC-D47DB2BE53ED}" destId="{572AF16F-0023-4979-A6EF-7D0C32DE8E48}" srcOrd="1" destOrd="0" presId="urn:microsoft.com/office/officeart/2018/5/layout/IconLeafLabelList"/>
    <dgm:cxn modelId="{2D85E481-1CF1-44F9-A7A4-9B3994DD8A92}" type="presParOf" srcId="{1159EECF-B76E-4D33-AACC-D47DB2BE53ED}" destId="{C9ECD7A3-5360-4466-B7D4-E1DD62AEDDE9}" srcOrd="2" destOrd="0" presId="urn:microsoft.com/office/officeart/2018/5/layout/IconLeafLabelList"/>
    <dgm:cxn modelId="{CD58A202-83DD-4B60-9D60-98FEB718C1E0}" type="presParOf" srcId="{1159EECF-B76E-4D33-AACC-D47DB2BE53ED}" destId="{B721945C-D942-468A-BC1E-E9AC776F1889}" srcOrd="3" destOrd="0" presId="urn:microsoft.com/office/officeart/2018/5/layout/IconLeafLabelList"/>
    <dgm:cxn modelId="{F7A2FB58-90F7-4B70-B979-691D2A95D06C}" type="presParOf" srcId="{5BE2DA29-FC56-4E39-97CF-CDC756AF4B71}" destId="{E81B8108-3A5C-4B95-A8FD-93A88C7C4E55}" srcOrd="3" destOrd="0" presId="urn:microsoft.com/office/officeart/2018/5/layout/IconLeafLabelList"/>
    <dgm:cxn modelId="{A0137DC5-E9A3-44B5-A504-26E1EECB042F}" type="presParOf" srcId="{5BE2DA29-FC56-4E39-97CF-CDC756AF4B71}" destId="{03BCDA05-8302-42EA-A909-B1429D108B11}" srcOrd="4" destOrd="0" presId="urn:microsoft.com/office/officeart/2018/5/layout/IconLeafLabelList"/>
    <dgm:cxn modelId="{9EAC971D-AB1B-4553-9BA2-39C0F025F9E2}" type="presParOf" srcId="{03BCDA05-8302-42EA-A909-B1429D108B11}" destId="{A4109A8B-9860-4B49-805D-1769D9FF3F7D}" srcOrd="0" destOrd="0" presId="urn:microsoft.com/office/officeart/2018/5/layout/IconLeafLabelList"/>
    <dgm:cxn modelId="{A87BCCF9-6DD7-436C-93B1-A89C4BE405E7}" type="presParOf" srcId="{03BCDA05-8302-42EA-A909-B1429D108B11}" destId="{F8E8D8A5-0425-4695-8CCE-4AA72FC19240}" srcOrd="1" destOrd="0" presId="urn:microsoft.com/office/officeart/2018/5/layout/IconLeafLabelList"/>
    <dgm:cxn modelId="{A6DD994B-7154-4DC6-A785-054C963BB551}" type="presParOf" srcId="{03BCDA05-8302-42EA-A909-B1429D108B11}" destId="{26085A90-206B-454C-888D-2619415E054B}" srcOrd="2" destOrd="0" presId="urn:microsoft.com/office/officeart/2018/5/layout/IconLeafLabelList"/>
    <dgm:cxn modelId="{A136F0A9-EE41-469D-B252-F3A8431204B0}" type="presParOf" srcId="{03BCDA05-8302-42EA-A909-B1429D108B11}" destId="{009F4465-2C62-4DEF-91AF-ABAE6FEA2C52}" srcOrd="3" destOrd="0" presId="urn:microsoft.com/office/officeart/2018/5/layout/IconLeafLabelList"/>
    <dgm:cxn modelId="{CC3D0B94-F042-4550-AB1D-FDAD019553D0}" type="presParOf" srcId="{5BE2DA29-FC56-4E39-97CF-CDC756AF4B71}" destId="{EB1AC62D-BF34-4169-81C5-A4FD4E16B165}" srcOrd="5" destOrd="0" presId="urn:microsoft.com/office/officeart/2018/5/layout/IconLeafLabelList"/>
    <dgm:cxn modelId="{46D94E4A-CAD0-4FF6-A605-8CA06C7C7999}" type="presParOf" srcId="{5BE2DA29-FC56-4E39-97CF-CDC756AF4B71}" destId="{500E56AF-1C66-47E9-A0E9-5FD5FBD6AE50}" srcOrd="6" destOrd="0" presId="urn:microsoft.com/office/officeart/2018/5/layout/IconLeafLabelList"/>
    <dgm:cxn modelId="{9CEAAA68-EAE6-4905-B12F-F81AB127D25D}" type="presParOf" srcId="{500E56AF-1C66-47E9-A0E9-5FD5FBD6AE50}" destId="{ADD0CD38-9A24-4E3E-898D-BA039B8D83CE}" srcOrd="0" destOrd="0" presId="urn:microsoft.com/office/officeart/2018/5/layout/IconLeafLabelList"/>
    <dgm:cxn modelId="{A40B2B6A-0543-41FA-9FC5-7413614F661E}" type="presParOf" srcId="{500E56AF-1C66-47E9-A0E9-5FD5FBD6AE50}" destId="{C27B1C80-E65A-4BF9-A5B4-1C049E5D17B2}" srcOrd="1" destOrd="0" presId="urn:microsoft.com/office/officeart/2018/5/layout/IconLeafLabelList"/>
    <dgm:cxn modelId="{FDCC64E2-65ED-4BDF-9C30-A2B5B3960BBB}" type="presParOf" srcId="{500E56AF-1C66-47E9-A0E9-5FD5FBD6AE50}" destId="{CF47FEDB-362D-4DDE-B671-B2B867EDDB6B}" srcOrd="2" destOrd="0" presId="urn:microsoft.com/office/officeart/2018/5/layout/IconLeafLabelList"/>
    <dgm:cxn modelId="{B431AC83-245A-4660-AE8E-625B9E5B95FF}" type="presParOf" srcId="{500E56AF-1C66-47E9-A0E9-5FD5FBD6AE50}" destId="{2DEB5423-6C6B-4709-BDDF-236101D8E79A}" srcOrd="3" destOrd="0" presId="urn:microsoft.com/office/officeart/2018/5/layout/IconLeaf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CEB92AC-3183-4BF9-A3C0-3BC04BC48154}" type="doc">
      <dgm:prSet loTypeId="urn:microsoft.com/office/officeart/2018/2/layout/IconLabelList" loCatId="icon" qsTypeId="urn:microsoft.com/office/officeart/2005/8/quickstyle/simple1" qsCatId="simple" csTypeId="urn:microsoft.com/office/officeart/2018/5/colors/Iconchunking_neutralbg_accent2_2" csCatId="accent2" phldr="1"/>
      <dgm:spPr/>
      <dgm:t>
        <a:bodyPr/>
        <a:lstStyle/>
        <a:p>
          <a:endParaRPr lang="en-US"/>
        </a:p>
      </dgm:t>
    </dgm:pt>
    <dgm:pt modelId="{E25B5E1D-6892-44E1-A8A4-A163393B8F36}">
      <dgm:prSet/>
      <dgm:spPr/>
      <dgm:t>
        <a:bodyPr/>
        <a:lstStyle/>
        <a:p>
          <a:pPr>
            <a:lnSpc>
              <a:spcPct val="100000"/>
            </a:lnSpc>
          </a:pPr>
          <a:r>
            <a:rPr lang="en-US" b="1" i="0" baseline="0"/>
            <a:t>The Price Elasticity Trap:</a:t>
          </a:r>
          <a:r>
            <a:rPr lang="en-US" b="0" i="0" baseline="0"/>
            <a:t> There is a clear </a:t>
          </a:r>
          <a:r>
            <a:rPr lang="en-US" b="1" i="0" baseline="0"/>
            <a:t>inverse relationship between discount depth and AOV</a:t>
          </a:r>
          <a:r>
            <a:rPr lang="en-US" b="0" i="0" baseline="0"/>
            <a:t>. At a 0% discount, the AOV is </a:t>
          </a:r>
          <a:r>
            <a:rPr lang="en-US" b="1" i="0" baseline="0"/>
            <a:t>$749</a:t>
          </a:r>
          <a:r>
            <a:rPr lang="en-US" b="0" i="0" baseline="0"/>
            <a:t>, but it drops to </a:t>
          </a:r>
          <a:r>
            <a:rPr lang="en-US" b="1" i="0" baseline="0"/>
            <a:t>$522</a:t>
          </a:r>
          <a:r>
            <a:rPr lang="en-US" b="0" i="0" baseline="0"/>
            <a:t> at a 30% discount. This suggests that while higher discounts move volume, they are significantly eroding the premium value of the orders.</a:t>
          </a:r>
          <a:endParaRPr lang="en-US"/>
        </a:p>
      </dgm:t>
    </dgm:pt>
    <dgm:pt modelId="{FFF56640-C00B-4CC6-BA46-D85FBD83AD8A}" type="parTrans" cxnId="{FC7C9B17-59C7-48CF-A9EA-A890B348EEFB}">
      <dgm:prSet/>
      <dgm:spPr/>
      <dgm:t>
        <a:bodyPr/>
        <a:lstStyle/>
        <a:p>
          <a:endParaRPr lang="en-US"/>
        </a:p>
      </dgm:t>
    </dgm:pt>
    <dgm:pt modelId="{26D34061-D4FF-4B4A-8A67-4445219D3906}" type="sibTrans" cxnId="{FC7C9B17-59C7-48CF-A9EA-A890B348EEFB}">
      <dgm:prSet/>
      <dgm:spPr/>
      <dgm:t>
        <a:bodyPr/>
        <a:lstStyle/>
        <a:p>
          <a:endParaRPr lang="en-US"/>
        </a:p>
      </dgm:t>
    </dgm:pt>
    <dgm:pt modelId="{60367ADE-17A3-468E-9893-C3CE8F953DE0}">
      <dgm:prSet/>
      <dgm:spPr/>
      <dgm:t>
        <a:bodyPr/>
        <a:lstStyle/>
        <a:p>
          <a:pPr>
            <a:lnSpc>
              <a:spcPct val="100000"/>
            </a:lnSpc>
          </a:pPr>
          <a:r>
            <a:rPr lang="en-US" b="1" i="0" baseline="0"/>
            <a:t>Inelastic Categories:</a:t>
          </a:r>
          <a:r>
            <a:rPr lang="en-US" b="0" i="0" baseline="0"/>
            <a:t> Despite different discount levels across categories, the "Quantity and Discount per Category" chart shows that quantities stay within a relatively tight range (</a:t>
          </a:r>
          <a:r>
            <a:rPr lang="en-US" b="1" i="0" baseline="0"/>
            <a:t>824K to 854K</a:t>
          </a:r>
          <a:r>
            <a:rPr lang="en-US" b="0" i="0" baseline="0"/>
            <a:t> in the line chart peaks). This suggests that customers may be buying based on need rather than being heavily swayed to switch categories by the size of the discount.</a:t>
          </a:r>
          <a:endParaRPr lang="en-US"/>
        </a:p>
      </dgm:t>
    </dgm:pt>
    <dgm:pt modelId="{5231B43D-AD86-4489-B77C-C7E4B77D0C7C}" type="parTrans" cxnId="{DA3981B5-3ED2-4C5B-B1FA-79557FE27A5A}">
      <dgm:prSet/>
      <dgm:spPr/>
      <dgm:t>
        <a:bodyPr/>
        <a:lstStyle/>
        <a:p>
          <a:endParaRPr lang="en-US"/>
        </a:p>
      </dgm:t>
    </dgm:pt>
    <dgm:pt modelId="{057C86FA-018D-4BD6-A0CE-6162E3B64F8B}" type="sibTrans" cxnId="{DA3981B5-3ED2-4C5B-B1FA-79557FE27A5A}">
      <dgm:prSet/>
      <dgm:spPr/>
      <dgm:t>
        <a:bodyPr/>
        <a:lstStyle/>
        <a:p>
          <a:endParaRPr lang="en-US"/>
        </a:p>
      </dgm:t>
    </dgm:pt>
    <dgm:pt modelId="{D1CFAA63-E53D-4474-899F-92EA78145114}">
      <dgm:prSet/>
      <dgm:spPr/>
      <dgm:t>
        <a:bodyPr/>
        <a:lstStyle/>
        <a:p>
          <a:pPr>
            <a:lnSpc>
              <a:spcPct val="100000"/>
            </a:lnSpc>
          </a:pPr>
          <a:r>
            <a:rPr lang="en-US" b="1" i="0" baseline="0"/>
            <a:t>Discount Slab Efficiency:</a:t>
          </a:r>
          <a:r>
            <a:rPr lang="en-US" b="0" i="0" baseline="0"/>
            <a:t> The "Total Discount by Discount Slab" chart shows that the </a:t>
          </a:r>
          <a:r>
            <a:rPr lang="en-US" b="1" i="0" baseline="0"/>
            <a:t>30% slab</a:t>
          </a:r>
          <a:r>
            <a:rPr lang="en-US" b="0" i="0" baseline="0"/>
            <a:t> accounts for the highest total discount spend (</a:t>
          </a:r>
          <a:r>
            <a:rPr lang="en-US" b="1" i="0" baseline="0"/>
            <a:t>0.31M</a:t>
          </a:r>
          <a:r>
            <a:rPr lang="en-US" b="0" i="0" baseline="0"/>
            <a:t>), yet it results in the lowest average revenue share.</a:t>
          </a:r>
          <a:endParaRPr lang="en-US"/>
        </a:p>
      </dgm:t>
    </dgm:pt>
    <dgm:pt modelId="{27864CD4-AED1-467C-A5FA-4AA5917D8CC2}" type="parTrans" cxnId="{B6A276C3-4107-48D0-B466-5246B9108682}">
      <dgm:prSet/>
      <dgm:spPr/>
      <dgm:t>
        <a:bodyPr/>
        <a:lstStyle/>
        <a:p>
          <a:endParaRPr lang="en-US"/>
        </a:p>
      </dgm:t>
    </dgm:pt>
    <dgm:pt modelId="{D6E9D6C3-9E50-4139-9615-0BDC859A94B3}" type="sibTrans" cxnId="{B6A276C3-4107-48D0-B466-5246B9108682}">
      <dgm:prSet/>
      <dgm:spPr/>
      <dgm:t>
        <a:bodyPr/>
        <a:lstStyle/>
        <a:p>
          <a:endParaRPr lang="en-US"/>
        </a:p>
      </dgm:t>
    </dgm:pt>
    <dgm:pt modelId="{8CC508E8-5028-43E9-8D76-99AA8DE87ECA}" type="pres">
      <dgm:prSet presAssocID="{5CEB92AC-3183-4BF9-A3C0-3BC04BC48154}" presName="root" presStyleCnt="0">
        <dgm:presLayoutVars>
          <dgm:dir/>
          <dgm:resizeHandles val="exact"/>
        </dgm:presLayoutVars>
      </dgm:prSet>
      <dgm:spPr/>
    </dgm:pt>
    <dgm:pt modelId="{018F9103-C589-4AC2-A0F9-D1D870324D6B}" type="pres">
      <dgm:prSet presAssocID="{E25B5E1D-6892-44E1-A8A4-A163393B8F36}" presName="compNode" presStyleCnt="0"/>
      <dgm:spPr/>
    </dgm:pt>
    <dgm:pt modelId="{A36DD7D2-D0E4-48B7-9143-DC1363C6017D}" type="pres">
      <dgm:prSet presAssocID="{E25B5E1D-6892-44E1-A8A4-A163393B8F36}"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Yuan"/>
        </a:ext>
      </dgm:extLst>
    </dgm:pt>
    <dgm:pt modelId="{579F069B-2403-43D8-BD9B-B65F6AD8616A}" type="pres">
      <dgm:prSet presAssocID="{E25B5E1D-6892-44E1-A8A4-A163393B8F36}" presName="spaceRect" presStyleCnt="0"/>
      <dgm:spPr/>
    </dgm:pt>
    <dgm:pt modelId="{456E5428-C5B4-4697-A4F2-70833E694616}" type="pres">
      <dgm:prSet presAssocID="{E25B5E1D-6892-44E1-A8A4-A163393B8F36}" presName="textRect" presStyleLbl="revTx" presStyleIdx="0" presStyleCnt="3">
        <dgm:presLayoutVars>
          <dgm:chMax val="1"/>
          <dgm:chPref val="1"/>
        </dgm:presLayoutVars>
      </dgm:prSet>
      <dgm:spPr/>
    </dgm:pt>
    <dgm:pt modelId="{BB596BBE-920A-406D-843F-04D1FC4AD19E}" type="pres">
      <dgm:prSet presAssocID="{26D34061-D4FF-4B4A-8A67-4445219D3906}" presName="sibTrans" presStyleCnt="0"/>
      <dgm:spPr/>
    </dgm:pt>
    <dgm:pt modelId="{8122A43F-FDD9-40BB-B835-5804A7EC045F}" type="pres">
      <dgm:prSet presAssocID="{60367ADE-17A3-468E-9893-C3CE8F953DE0}" presName="compNode" presStyleCnt="0"/>
      <dgm:spPr/>
    </dgm:pt>
    <dgm:pt modelId="{BB6CE802-2BAB-403D-83A7-2D4FBE7B78B1}" type="pres">
      <dgm:prSet presAssocID="{60367ADE-17A3-468E-9893-C3CE8F953DE0}"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ice"/>
        </a:ext>
      </dgm:extLst>
    </dgm:pt>
    <dgm:pt modelId="{B6C71F7B-5F07-4115-8323-91D7A5AF20F8}" type="pres">
      <dgm:prSet presAssocID="{60367ADE-17A3-468E-9893-C3CE8F953DE0}" presName="spaceRect" presStyleCnt="0"/>
      <dgm:spPr/>
    </dgm:pt>
    <dgm:pt modelId="{1F023D52-2CCB-4302-8430-5142888DF043}" type="pres">
      <dgm:prSet presAssocID="{60367ADE-17A3-468E-9893-C3CE8F953DE0}" presName="textRect" presStyleLbl="revTx" presStyleIdx="1" presStyleCnt="3">
        <dgm:presLayoutVars>
          <dgm:chMax val="1"/>
          <dgm:chPref val="1"/>
        </dgm:presLayoutVars>
      </dgm:prSet>
      <dgm:spPr/>
    </dgm:pt>
    <dgm:pt modelId="{2FB57216-F69E-4FC0-AF17-4177B0229E1B}" type="pres">
      <dgm:prSet presAssocID="{057C86FA-018D-4BD6-A0CE-6162E3B64F8B}" presName="sibTrans" presStyleCnt="0"/>
      <dgm:spPr/>
    </dgm:pt>
    <dgm:pt modelId="{15B7B9B2-5016-42E2-A69F-CD1AE16B2F19}" type="pres">
      <dgm:prSet presAssocID="{D1CFAA63-E53D-4474-899F-92EA78145114}" presName="compNode" presStyleCnt="0"/>
      <dgm:spPr/>
    </dgm:pt>
    <dgm:pt modelId="{E80F2C7B-E30E-4833-B772-E1532A627074}" type="pres">
      <dgm:prSet presAssocID="{D1CFAA63-E53D-4474-899F-92EA78145114}"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old bars"/>
        </a:ext>
      </dgm:extLst>
    </dgm:pt>
    <dgm:pt modelId="{862BBCDC-9D41-4D2E-B60D-BE4309735D07}" type="pres">
      <dgm:prSet presAssocID="{D1CFAA63-E53D-4474-899F-92EA78145114}" presName="spaceRect" presStyleCnt="0"/>
      <dgm:spPr/>
    </dgm:pt>
    <dgm:pt modelId="{D7F37CF5-42B2-4387-B25E-839C327B2029}" type="pres">
      <dgm:prSet presAssocID="{D1CFAA63-E53D-4474-899F-92EA78145114}" presName="textRect" presStyleLbl="revTx" presStyleIdx="2" presStyleCnt="3">
        <dgm:presLayoutVars>
          <dgm:chMax val="1"/>
          <dgm:chPref val="1"/>
        </dgm:presLayoutVars>
      </dgm:prSet>
      <dgm:spPr/>
    </dgm:pt>
  </dgm:ptLst>
  <dgm:cxnLst>
    <dgm:cxn modelId="{BD3C990F-D0CF-437B-A2BC-313D23AF0EE6}" type="presOf" srcId="{E25B5E1D-6892-44E1-A8A4-A163393B8F36}" destId="{456E5428-C5B4-4697-A4F2-70833E694616}" srcOrd="0" destOrd="0" presId="urn:microsoft.com/office/officeart/2018/2/layout/IconLabelList"/>
    <dgm:cxn modelId="{FC7C9B17-59C7-48CF-A9EA-A890B348EEFB}" srcId="{5CEB92AC-3183-4BF9-A3C0-3BC04BC48154}" destId="{E25B5E1D-6892-44E1-A8A4-A163393B8F36}" srcOrd="0" destOrd="0" parTransId="{FFF56640-C00B-4CC6-BA46-D85FBD83AD8A}" sibTransId="{26D34061-D4FF-4B4A-8A67-4445219D3906}"/>
    <dgm:cxn modelId="{CAB5E039-4162-4DE9-BA27-F302912FD7F4}" type="presOf" srcId="{D1CFAA63-E53D-4474-899F-92EA78145114}" destId="{D7F37CF5-42B2-4387-B25E-839C327B2029}" srcOrd="0" destOrd="0" presId="urn:microsoft.com/office/officeart/2018/2/layout/IconLabelList"/>
    <dgm:cxn modelId="{DA3981B5-3ED2-4C5B-B1FA-79557FE27A5A}" srcId="{5CEB92AC-3183-4BF9-A3C0-3BC04BC48154}" destId="{60367ADE-17A3-468E-9893-C3CE8F953DE0}" srcOrd="1" destOrd="0" parTransId="{5231B43D-AD86-4489-B77C-C7E4B77D0C7C}" sibTransId="{057C86FA-018D-4BD6-A0CE-6162E3B64F8B}"/>
    <dgm:cxn modelId="{B6A276C3-4107-48D0-B466-5246B9108682}" srcId="{5CEB92AC-3183-4BF9-A3C0-3BC04BC48154}" destId="{D1CFAA63-E53D-4474-899F-92EA78145114}" srcOrd="2" destOrd="0" parTransId="{27864CD4-AED1-467C-A5FA-4AA5917D8CC2}" sibTransId="{D6E9D6C3-9E50-4139-9615-0BDC859A94B3}"/>
    <dgm:cxn modelId="{21739CEC-093D-49A9-A573-C98B6B1D67C1}" type="presOf" srcId="{60367ADE-17A3-468E-9893-C3CE8F953DE0}" destId="{1F023D52-2CCB-4302-8430-5142888DF043}" srcOrd="0" destOrd="0" presId="urn:microsoft.com/office/officeart/2018/2/layout/IconLabelList"/>
    <dgm:cxn modelId="{4FB13BFF-6132-446E-A4C2-1681B0D433D0}" type="presOf" srcId="{5CEB92AC-3183-4BF9-A3C0-3BC04BC48154}" destId="{8CC508E8-5028-43E9-8D76-99AA8DE87ECA}" srcOrd="0" destOrd="0" presId="urn:microsoft.com/office/officeart/2018/2/layout/IconLabelList"/>
    <dgm:cxn modelId="{7E38A780-3DE4-4DB4-B8DA-E52422307BB6}" type="presParOf" srcId="{8CC508E8-5028-43E9-8D76-99AA8DE87ECA}" destId="{018F9103-C589-4AC2-A0F9-D1D870324D6B}" srcOrd="0" destOrd="0" presId="urn:microsoft.com/office/officeart/2018/2/layout/IconLabelList"/>
    <dgm:cxn modelId="{FF520E94-D00E-476B-9C30-DF55ABA0D387}" type="presParOf" srcId="{018F9103-C589-4AC2-A0F9-D1D870324D6B}" destId="{A36DD7D2-D0E4-48B7-9143-DC1363C6017D}" srcOrd="0" destOrd="0" presId="urn:microsoft.com/office/officeart/2018/2/layout/IconLabelList"/>
    <dgm:cxn modelId="{CA07D655-F0B7-4E88-BABA-817B3ACF0147}" type="presParOf" srcId="{018F9103-C589-4AC2-A0F9-D1D870324D6B}" destId="{579F069B-2403-43D8-BD9B-B65F6AD8616A}" srcOrd="1" destOrd="0" presId="urn:microsoft.com/office/officeart/2018/2/layout/IconLabelList"/>
    <dgm:cxn modelId="{DA94E95E-F197-4F2E-A54D-5DDBE70BFB52}" type="presParOf" srcId="{018F9103-C589-4AC2-A0F9-D1D870324D6B}" destId="{456E5428-C5B4-4697-A4F2-70833E694616}" srcOrd="2" destOrd="0" presId="urn:microsoft.com/office/officeart/2018/2/layout/IconLabelList"/>
    <dgm:cxn modelId="{70B4E7CA-D82F-4675-9BCD-1F635936A682}" type="presParOf" srcId="{8CC508E8-5028-43E9-8D76-99AA8DE87ECA}" destId="{BB596BBE-920A-406D-843F-04D1FC4AD19E}" srcOrd="1" destOrd="0" presId="urn:microsoft.com/office/officeart/2018/2/layout/IconLabelList"/>
    <dgm:cxn modelId="{03B58330-6522-4A6F-A310-A068134BE000}" type="presParOf" srcId="{8CC508E8-5028-43E9-8D76-99AA8DE87ECA}" destId="{8122A43F-FDD9-40BB-B835-5804A7EC045F}" srcOrd="2" destOrd="0" presId="urn:microsoft.com/office/officeart/2018/2/layout/IconLabelList"/>
    <dgm:cxn modelId="{E2A13660-8569-4797-89E7-2BD35BE4367B}" type="presParOf" srcId="{8122A43F-FDD9-40BB-B835-5804A7EC045F}" destId="{BB6CE802-2BAB-403D-83A7-2D4FBE7B78B1}" srcOrd="0" destOrd="0" presId="urn:microsoft.com/office/officeart/2018/2/layout/IconLabelList"/>
    <dgm:cxn modelId="{85A2C8E8-3E30-4FF9-9939-E549F811CB08}" type="presParOf" srcId="{8122A43F-FDD9-40BB-B835-5804A7EC045F}" destId="{B6C71F7B-5F07-4115-8323-91D7A5AF20F8}" srcOrd="1" destOrd="0" presId="urn:microsoft.com/office/officeart/2018/2/layout/IconLabelList"/>
    <dgm:cxn modelId="{DB381E6E-B49A-4E21-B458-B018032948EC}" type="presParOf" srcId="{8122A43F-FDD9-40BB-B835-5804A7EC045F}" destId="{1F023D52-2CCB-4302-8430-5142888DF043}" srcOrd="2" destOrd="0" presId="urn:microsoft.com/office/officeart/2018/2/layout/IconLabelList"/>
    <dgm:cxn modelId="{E80DDA4A-288B-4388-AEAC-3B37CFF374E1}" type="presParOf" srcId="{8CC508E8-5028-43E9-8D76-99AA8DE87ECA}" destId="{2FB57216-F69E-4FC0-AF17-4177B0229E1B}" srcOrd="3" destOrd="0" presId="urn:microsoft.com/office/officeart/2018/2/layout/IconLabelList"/>
    <dgm:cxn modelId="{504074A6-0D78-4984-8939-14EDB7BBD936}" type="presParOf" srcId="{8CC508E8-5028-43E9-8D76-99AA8DE87ECA}" destId="{15B7B9B2-5016-42E2-A69F-CD1AE16B2F19}" srcOrd="4" destOrd="0" presId="urn:microsoft.com/office/officeart/2018/2/layout/IconLabelList"/>
    <dgm:cxn modelId="{6E1E0EBD-F98F-4FEE-B668-659C28D8D56D}" type="presParOf" srcId="{15B7B9B2-5016-42E2-A69F-CD1AE16B2F19}" destId="{E80F2C7B-E30E-4833-B772-E1532A627074}" srcOrd="0" destOrd="0" presId="urn:microsoft.com/office/officeart/2018/2/layout/IconLabelList"/>
    <dgm:cxn modelId="{EF67D6E0-0F0C-4AF2-9E76-2FB77E91540C}" type="presParOf" srcId="{15B7B9B2-5016-42E2-A69F-CD1AE16B2F19}" destId="{862BBCDC-9D41-4D2E-B60D-BE4309735D07}" srcOrd="1" destOrd="0" presId="urn:microsoft.com/office/officeart/2018/2/layout/IconLabelList"/>
    <dgm:cxn modelId="{EEC9F3C4-41CD-4BCD-853B-4DCB4921C01D}" type="presParOf" srcId="{15B7B9B2-5016-42E2-A69F-CD1AE16B2F19}" destId="{D7F37CF5-42B2-4387-B25E-839C327B2029}" srcOrd="2" destOrd="0" presId="urn:microsoft.com/office/officeart/2018/2/layout/IconLabel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5558904-9996-4E05-9315-5521989AE280}" type="doc">
      <dgm:prSet loTypeId="urn:microsoft.com/office/officeart/2005/8/layout/vList2" loCatId="list" qsTypeId="urn:microsoft.com/office/officeart/2005/8/quickstyle/simple1" qsCatId="simple" csTypeId="urn:microsoft.com/office/officeart/2005/8/colors/accent2_2" csCatId="accent2"/>
      <dgm:spPr/>
      <dgm:t>
        <a:bodyPr/>
        <a:lstStyle/>
        <a:p>
          <a:endParaRPr lang="en-US"/>
        </a:p>
      </dgm:t>
    </dgm:pt>
    <dgm:pt modelId="{78643DF4-5AF6-4896-9750-BA8495FCF7D7}">
      <dgm:prSet/>
      <dgm:spPr/>
      <dgm:t>
        <a:bodyPr/>
        <a:lstStyle/>
        <a:p>
          <a:r>
            <a:rPr lang="en-US" b="1" i="0" baseline="0"/>
            <a:t>AOV Protection:</a:t>
          </a:r>
          <a:r>
            <a:rPr lang="en-US" b="0" i="0" baseline="0"/>
            <a:t> Reduce the frequency of the </a:t>
          </a:r>
          <a:r>
            <a:rPr lang="en-US" b="1" i="0" baseline="0"/>
            <a:t>30% discount slab</a:t>
          </a:r>
          <a:r>
            <a:rPr lang="en-US" b="0" i="0" baseline="0"/>
            <a:t>, as it yields the lowest revenue share ($522). Shift that promotional budget toward the </a:t>
          </a:r>
          <a:r>
            <a:rPr lang="en-US" b="1" i="0" baseline="0"/>
            <a:t>10% and 15% slabs</a:t>
          </a:r>
          <a:r>
            <a:rPr lang="en-US" b="0" i="0" baseline="0"/>
            <a:t>, which maintain a healthier AOV (approx. $691–$728).</a:t>
          </a:r>
          <a:endParaRPr lang="en-US"/>
        </a:p>
      </dgm:t>
    </dgm:pt>
    <dgm:pt modelId="{6D156453-F010-4CBA-85E9-B57725FA3C7C}" type="parTrans" cxnId="{A30CF19E-9973-4A80-B54B-D01CAAF8B9FE}">
      <dgm:prSet/>
      <dgm:spPr/>
      <dgm:t>
        <a:bodyPr/>
        <a:lstStyle/>
        <a:p>
          <a:endParaRPr lang="en-US"/>
        </a:p>
      </dgm:t>
    </dgm:pt>
    <dgm:pt modelId="{9043B7F5-4CF7-4032-B917-BEB8F7ABE873}" type="sibTrans" cxnId="{A30CF19E-9973-4A80-B54B-D01CAAF8B9FE}">
      <dgm:prSet/>
      <dgm:spPr/>
      <dgm:t>
        <a:bodyPr/>
        <a:lstStyle/>
        <a:p>
          <a:endParaRPr lang="en-US"/>
        </a:p>
      </dgm:t>
    </dgm:pt>
    <dgm:pt modelId="{AD025898-DF70-4AF7-8B8C-16B8FAFE91E0}">
      <dgm:prSet/>
      <dgm:spPr/>
      <dgm:t>
        <a:bodyPr/>
        <a:lstStyle/>
        <a:p>
          <a:r>
            <a:rPr lang="en-US" b="1" i="0" baseline="0"/>
            <a:t>Category-Specific Bundling:</a:t>
          </a:r>
          <a:r>
            <a:rPr lang="en-US" b="0" i="0" baseline="0"/>
            <a:t> Since Books and Beauty have the highest discount reliance, introduce "Buy One Get One" or "Bundle" offers to increase the number of items per order, helping to offset the high discount rate.</a:t>
          </a:r>
          <a:endParaRPr lang="en-US"/>
        </a:p>
      </dgm:t>
    </dgm:pt>
    <dgm:pt modelId="{CF7304BD-282E-43A9-97FA-00BE2EDA6939}" type="parTrans" cxnId="{082AA6A3-7FC4-4F17-A1FE-D098673E8C44}">
      <dgm:prSet/>
      <dgm:spPr/>
      <dgm:t>
        <a:bodyPr/>
        <a:lstStyle/>
        <a:p>
          <a:endParaRPr lang="en-US"/>
        </a:p>
      </dgm:t>
    </dgm:pt>
    <dgm:pt modelId="{9F7133D1-F262-45B6-8634-8E952CC81AB1}" type="sibTrans" cxnId="{082AA6A3-7FC4-4F17-A1FE-D098673E8C44}">
      <dgm:prSet/>
      <dgm:spPr/>
      <dgm:t>
        <a:bodyPr/>
        <a:lstStyle/>
        <a:p>
          <a:endParaRPr lang="en-US"/>
        </a:p>
      </dgm:t>
    </dgm:pt>
    <dgm:pt modelId="{311EC6A1-FE1C-4DC6-A156-B20BAD7BA5BF}">
      <dgm:prSet/>
      <dgm:spPr/>
      <dgm:t>
        <a:bodyPr/>
        <a:lstStyle/>
        <a:p>
          <a:r>
            <a:rPr lang="en-US" b="1" i="0" baseline="0"/>
            <a:t>Inventory Clearing:</a:t>
          </a:r>
          <a:r>
            <a:rPr lang="en-US" b="0" i="0" baseline="0"/>
            <a:t> Use the high-volume/high-discount trend in </a:t>
          </a:r>
          <a:r>
            <a:rPr lang="en-US" b="1" i="0" baseline="0"/>
            <a:t>Beauty</a:t>
          </a:r>
          <a:r>
            <a:rPr lang="en-US" b="0" i="0" baseline="0"/>
            <a:t> to aggressively clear slow-moving stock, but keep the discounts capped at 20% to avoid excessive revenue erosion.</a:t>
          </a:r>
          <a:endParaRPr lang="en-US"/>
        </a:p>
      </dgm:t>
    </dgm:pt>
    <dgm:pt modelId="{D5E48602-2AA5-4014-BB20-7A0C2D6CFAD7}" type="parTrans" cxnId="{4E4BD726-F416-4D72-A1DF-7FE9264CDA0C}">
      <dgm:prSet/>
      <dgm:spPr/>
      <dgm:t>
        <a:bodyPr/>
        <a:lstStyle/>
        <a:p>
          <a:endParaRPr lang="en-US"/>
        </a:p>
      </dgm:t>
    </dgm:pt>
    <dgm:pt modelId="{A5BAFAB2-DB52-498D-BCC1-8757579BC74F}" type="sibTrans" cxnId="{4E4BD726-F416-4D72-A1DF-7FE9264CDA0C}">
      <dgm:prSet/>
      <dgm:spPr/>
      <dgm:t>
        <a:bodyPr/>
        <a:lstStyle/>
        <a:p>
          <a:endParaRPr lang="en-US"/>
        </a:p>
      </dgm:t>
    </dgm:pt>
    <dgm:pt modelId="{427A14D9-CA05-46AB-A3CB-069B051E11CD}" type="pres">
      <dgm:prSet presAssocID="{85558904-9996-4E05-9315-5521989AE280}" presName="linear" presStyleCnt="0">
        <dgm:presLayoutVars>
          <dgm:animLvl val="lvl"/>
          <dgm:resizeHandles val="exact"/>
        </dgm:presLayoutVars>
      </dgm:prSet>
      <dgm:spPr/>
    </dgm:pt>
    <dgm:pt modelId="{8FA38F17-5836-405E-A661-2DB0173D2302}" type="pres">
      <dgm:prSet presAssocID="{78643DF4-5AF6-4896-9750-BA8495FCF7D7}" presName="parentText" presStyleLbl="node1" presStyleIdx="0" presStyleCnt="3">
        <dgm:presLayoutVars>
          <dgm:chMax val="0"/>
          <dgm:bulletEnabled val="1"/>
        </dgm:presLayoutVars>
      </dgm:prSet>
      <dgm:spPr/>
    </dgm:pt>
    <dgm:pt modelId="{40BAF0B5-4E32-4225-911B-F943B47F23A5}" type="pres">
      <dgm:prSet presAssocID="{9043B7F5-4CF7-4032-B917-BEB8F7ABE873}" presName="spacer" presStyleCnt="0"/>
      <dgm:spPr/>
    </dgm:pt>
    <dgm:pt modelId="{A0B0E764-6C75-479C-8258-DEF5520C0542}" type="pres">
      <dgm:prSet presAssocID="{AD025898-DF70-4AF7-8B8C-16B8FAFE91E0}" presName="parentText" presStyleLbl="node1" presStyleIdx="1" presStyleCnt="3">
        <dgm:presLayoutVars>
          <dgm:chMax val="0"/>
          <dgm:bulletEnabled val="1"/>
        </dgm:presLayoutVars>
      </dgm:prSet>
      <dgm:spPr/>
    </dgm:pt>
    <dgm:pt modelId="{FA591278-160D-4E68-A2A2-8AFD72AB3217}" type="pres">
      <dgm:prSet presAssocID="{9F7133D1-F262-45B6-8634-8E952CC81AB1}" presName="spacer" presStyleCnt="0"/>
      <dgm:spPr/>
    </dgm:pt>
    <dgm:pt modelId="{3D785E38-B70F-424F-A26A-2BDDBBEB5460}" type="pres">
      <dgm:prSet presAssocID="{311EC6A1-FE1C-4DC6-A156-B20BAD7BA5BF}" presName="parentText" presStyleLbl="node1" presStyleIdx="2" presStyleCnt="3">
        <dgm:presLayoutVars>
          <dgm:chMax val="0"/>
          <dgm:bulletEnabled val="1"/>
        </dgm:presLayoutVars>
      </dgm:prSet>
      <dgm:spPr/>
    </dgm:pt>
  </dgm:ptLst>
  <dgm:cxnLst>
    <dgm:cxn modelId="{4E4BD726-F416-4D72-A1DF-7FE9264CDA0C}" srcId="{85558904-9996-4E05-9315-5521989AE280}" destId="{311EC6A1-FE1C-4DC6-A156-B20BAD7BA5BF}" srcOrd="2" destOrd="0" parTransId="{D5E48602-2AA5-4014-BB20-7A0C2D6CFAD7}" sibTransId="{A5BAFAB2-DB52-498D-BCC1-8757579BC74F}"/>
    <dgm:cxn modelId="{6494FF7D-FEE3-489F-9809-4FFDD7D596DB}" type="presOf" srcId="{311EC6A1-FE1C-4DC6-A156-B20BAD7BA5BF}" destId="{3D785E38-B70F-424F-A26A-2BDDBBEB5460}" srcOrd="0" destOrd="0" presId="urn:microsoft.com/office/officeart/2005/8/layout/vList2"/>
    <dgm:cxn modelId="{ACD25093-AC42-419F-8AEE-608C444648E9}" type="presOf" srcId="{AD025898-DF70-4AF7-8B8C-16B8FAFE91E0}" destId="{A0B0E764-6C75-479C-8258-DEF5520C0542}" srcOrd="0" destOrd="0" presId="urn:microsoft.com/office/officeart/2005/8/layout/vList2"/>
    <dgm:cxn modelId="{A30CF19E-9973-4A80-B54B-D01CAAF8B9FE}" srcId="{85558904-9996-4E05-9315-5521989AE280}" destId="{78643DF4-5AF6-4896-9750-BA8495FCF7D7}" srcOrd="0" destOrd="0" parTransId="{6D156453-F010-4CBA-85E9-B57725FA3C7C}" sibTransId="{9043B7F5-4CF7-4032-B917-BEB8F7ABE873}"/>
    <dgm:cxn modelId="{082AA6A3-7FC4-4F17-A1FE-D098673E8C44}" srcId="{85558904-9996-4E05-9315-5521989AE280}" destId="{AD025898-DF70-4AF7-8B8C-16B8FAFE91E0}" srcOrd="1" destOrd="0" parTransId="{CF7304BD-282E-43A9-97FA-00BE2EDA6939}" sibTransId="{9F7133D1-F262-45B6-8634-8E952CC81AB1}"/>
    <dgm:cxn modelId="{9DDDA5C5-8A09-46C3-B9EB-B1C2A9CCBFDB}" type="presOf" srcId="{78643DF4-5AF6-4896-9750-BA8495FCF7D7}" destId="{8FA38F17-5836-405E-A661-2DB0173D2302}" srcOrd="0" destOrd="0" presId="urn:microsoft.com/office/officeart/2005/8/layout/vList2"/>
    <dgm:cxn modelId="{4A155AF0-132A-4D5D-82CE-2BB0F7F6A259}" type="presOf" srcId="{85558904-9996-4E05-9315-5521989AE280}" destId="{427A14D9-CA05-46AB-A3CB-069B051E11CD}" srcOrd="0" destOrd="0" presId="urn:microsoft.com/office/officeart/2005/8/layout/vList2"/>
    <dgm:cxn modelId="{2A52E253-A2D2-4D6E-B51A-8AAE4C301B91}" type="presParOf" srcId="{427A14D9-CA05-46AB-A3CB-069B051E11CD}" destId="{8FA38F17-5836-405E-A661-2DB0173D2302}" srcOrd="0" destOrd="0" presId="urn:microsoft.com/office/officeart/2005/8/layout/vList2"/>
    <dgm:cxn modelId="{C78DCB89-AE2C-4DBA-BBA9-BC23666E792C}" type="presParOf" srcId="{427A14D9-CA05-46AB-A3CB-069B051E11CD}" destId="{40BAF0B5-4E32-4225-911B-F943B47F23A5}" srcOrd="1" destOrd="0" presId="urn:microsoft.com/office/officeart/2005/8/layout/vList2"/>
    <dgm:cxn modelId="{4393C2A1-3502-4E2D-B289-2E640629CF89}" type="presParOf" srcId="{427A14D9-CA05-46AB-A3CB-069B051E11CD}" destId="{A0B0E764-6C75-479C-8258-DEF5520C0542}" srcOrd="2" destOrd="0" presId="urn:microsoft.com/office/officeart/2005/8/layout/vList2"/>
    <dgm:cxn modelId="{0329007E-5E8A-41E2-890B-278A94BA4CEA}" type="presParOf" srcId="{427A14D9-CA05-46AB-A3CB-069B051E11CD}" destId="{FA591278-160D-4E68-A2A2-8AFD72AB3217}" srcOrd="3" destOrd="0" presId="urn:microsoft.com/office/officeart/2005/8/layout/vList2"/>
    <dgm:cxn modelId="{AC5C31BC-90F5-4841-B456-9BF3A6B46A1B}" type="presParOf" srcId="{427A14D9-CA05-46AB-A3CB-069B051E11CD}" destId="{3D785E38-B70F-424F-A26A-2BDDBBEB5460}"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C2B6A2D6-BA4D-4D1A-82E8-549F5DAA524D}"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521FFCD1-E7B6-4FB5-88EC-15340E9D5C89}">
      <dgm:prSet/>
      <dgm:spPr/>
      <dgm:t>
        <a:bodyPr/>
        <a:lstStyle/>
        <a:p>
          <a:r>
            <a:rPr lang="en-US" b="1" i="0" baseline="0"/>
            <a:t>Loyalty-Driven Full Price Sales:</a:t>
          </a:r>
          <a:r>
            <a:rPr lang="en-US" b="0" i="0" baseline="0"/>
            <a:t> With 83.7% of sales being discounted, the brand risks being perceived as a "discount-only" destination. Implement a loyalty program that rewards full-price purchases with non-monetary perks (early access, exclusive content).</a:t>
          </a:r>
          <a:endParaRPr lang="en-US"/>
        </a:p>
      </dgm:t>
    </dgm:pt>
    <dgm:pt modelId="{FB1E8885-17D4-447A-960D-BC07A8DBEB20}" type="parTrans" cxnId="{7108BE00-8F70-474D-8F5A-B2A5C5404732}">
      <dgm:prSet/>
      <dgm:spPr/>
      <dgm:t>
        <a:bodyPr/>
        <a:lstStyle/>
        <a:p>
          <a:endParaRPr lang="en-US"/>
        </a:p>
      </dgm:t>
    </dgm:pt>
    <dgm:pt modelId="{C570548C-4C1B-42AD-A8F6-D5C0569F308E}" type="sibTrans" cxnId="{7108BE00-8F70-474D-8F5A-B2A5C5404732}">
      <dgm:prSet/>
      <dgm:spPr/>
      <dgm:t>
        <a:bodyPr/>
        <a:lstStyle/>
        <a:p>
          <a:endParaRPr lang="en-US"/>
        </a:p>
      </dgm:t>
    </dgm:pt>
    <dgm:pt modelId="{E7BEC5CE-8E14-4E59-948A-5B1E138C0C00}">
      <dgm:prSet/>
      <dgm:spPr/>
      <dgm:t>
        <a:bodyPr/>
        <a:lstStyle/>
        <a:p>
          <a:r>
            <a:rPr lang="en-US" b="1" i="0" baseline="0"/>
            <a:t>Personalized Discounting:</a:t>
          </a:r>
          <a:r>
            <a:rPr lang="en-US" b="0" i="0" baseline="0"/>
            <a:t> Transition away from "flat" discount slabs across all categories. Use predictive modeling to identify which customers would have purchased at 5% or 10% instead of giving everyone the "default" high discounts.</a:t>
          </a:r>
          <a:endParaRPr lang="en-US"/>
        </a:p>
      </dgm:t>
    </dgm:pt>
    <dgm:pt modelId="{7F757ACD-33B9-4591-8B87-1342D62372F9}" type="parTrans" cxnId="{B4025497-CD51-4D03-B03B-76B8BA389EA8}">
      <dgm:prSet/>
      <dgm:spPr/>
      <dgm:t>
        <a:bodyPr/>
        <a:lstStyle/>
        <a:p>
          <a:endParaRPr lang="en-US"/>
        </a:p>
      </dgm:t>
    </dgm:pt>
    <dgm:pt modelId="{81015E06-48EB-42C9-B805-D71DCE19401A}" type="sibTrans" cxnId="{B4025497-CD51-4D03-B03B-76B8BA389EA8}">
      <dgm:prSet/>
      <dgm:spPr/>
      <dgm:t>
        <a:bodyPr/>
        <a:lstStyle/>
        <a:p>
          <a:endParaRPr lang="en-US"/>
        </a:p>
      </dgm:t>
    </dgm:pt>
    <dgm:pt modelId="{125C6E57-F94B-4991-8924-C044B363ED3D}">
      <dgm:prSet/>
      <dgm:spPr/>
      <dgm:t>
        <a:bodyPr/>
        <a:lstStyle/>
        <a:p>
          <a:r>
            <a:rPr lang="en-US" b="1" i="0" baseline="0"/>
            <a:t>Premium Category Expansion:</a:t>
          </a:r>
          <a:r>
            <a:rPr lang="en-US" b="0" i="0" baseline="0"/>
            <a:t> Focus on growing the </a:t>
          </a:r>
          <a:r>
            <a:rPr lang="en-US" b="1" i="0" baseline="0"/>
            <a:t>Home &amp; Kitchen and Sports</a:t>
          </a:r>
          <a:r>
            <a:rPr lang="en-US" b="0" i="0" baseline="0"/>
            <a:t> categories through value-based marketing rather than price-based marketing, as these currently show lower volume and higher potential for AOV growth.</a:t>
          </a:r>
          <a:endParaRPr lang="en-US"/>
        </a:p>
      </dgm:t>
    </dgm:pt>
    <dgm:pt modelId="{B772DC15-E8A7-486C-8E47-5E318810DC85}" type="parTrans" cxnId="{9831DCC6-1CF3-4BD6-8224-F5DB271AF52A}">
      <dgm:prSet/>
      <dgm:spPr/>
      <dgm:t>
        <a:bodyPr/>
        <a:lstStyle/>
        <a:p>
          <a:endParaRPr lang="en-US"/>
        </a:p>
      </dgm:t>
    </dgm:pt>
    <dgm:pt modelId="{5D490098-352B-4403-9100-361E4317B3DC}" type="sibTrans" cxnId="{9831DCC6-1CF3-4BD6-8224-F5DB271AF52A}">
      <dgm:prSet/>
      <dgm:spPr/>
      <dgm:t>
        <a:bodyPr/>
        <a:lstStyle/>
        <a:p>
          <a:endParaRPr lang="en-US"/>
        </a:p>
      </dgm:t>
    </dgm:pt>
    <dgm:pt modelId="{3D64C4E9-D25F-4C31-B65A-F69EE97C5DBD}" type="pres">
      <dgm:prSet presAssocID="{C2B6A2D6-BA4D-4D1A-82E8-549F5DAA524D}" presName="vert0" presStyleCnt="0">
        <dgm:presLayoutVars>
          <dgm:dir/>
          <dgm:animOne val="branch"/>
          <dgm:animLvl val="lvl"/>
        </dgm:presLayoutVars>
      </dgm:prSet>
      <dgm:spPr/>
    </dgm:pt>
    <dgm:pt modelId="{C452405E-855E-467C-9D6F-455E03C6B103}" type="pres">
      <dgm:prSet presAssocID="{521FFCD1-E7B6-4FB5-88EC-15340E9D5C89}" presName="thickLine" presStyleLbl="alignNode1" presStyleIdx="0" presStyleCnt="3"/>
      <dgm:spPr/>
    </dgm:pt>
    <dgm:pt modelId="{13C829C5-D4D8-460E-AF47-D5C899D2D883}" type="pres">
      <dgm:prSet presAssocID="{521FFCD1-E7B6-4FB5-88EC-15340E9D5C89}" presName="horz1" presStyleCnt="0"/>
      <dgm:spPr/>
    </dgm:pt>
    <dgm:pt modelId="{E9C03305-FD34-42BE-97A8-AB6D4255E3A5}" type="pres">
      <dgm:prSet presAssocID="{521FFCD1-E7B6-4FB5-88EC-15340E9D5C89}" presName="tx1" presStyleLbl="revTx" presStyleIdx="0" presStyleCnt="3"/>
      <dgm:spPr/>
    </dgm:pt>
    <dgm:pt modelId="{981E8BE8-9548-484E-8FB8-5F53A5DA875C}" type="pres">
      <dgm:prSet presAssocID="{521FFCD1-E7B6-4FB5-88EC-15340E9D5C89}" presName="vert1" presStyleCnt="0"/>
      <dgm:spPr/>
    </dgm:pt>
    <dgm:pt modelId="{A34683F8-2905-47C2-8EF9-B0BA67768B86}" type="pres">
      <dgm:prSet presAssocID="{E7BEC5CE-8E14-4E59-948A-5B1E138C0C00}" presName="thickLine" presStyleLbl="alignNode1" presStyleIdx="1" presStyleCnt="3"/>
      <dgm:spPr/>
    </dgm:pt>
    <dgm:pt modelId="{B1155B19-BE9E-4CF4-A3E5-A41DEA35AB7E}" type="pres">
      <dgm:prSet presAssocID="{E7BEC5CE-8E14-4E59-948A-5B1E138C0C00}" presName="horz1" presStyleCnt="0"/>
      <dgm:spPr/>
    </dgm:pt>
    <dgm:pt modelId="{51496AF4-F7A1-44C7-83BE-8B2C7998EB73}" type="pres">
      <dgm:prSet presAssocID="{E7BEC5CE-8E14-4E59-948A-5B1E138C0C00}" presName="tx1" presStyleLbl="revTx" presStyleIdx="1" presStyleCnt="3"/>
      <dgm:spPr/>
    </dgm:pt>
    <dgm:pt modelId="{EDA9FBD6-D97F-4EDD-A019-9147520CCF22}" type="pres">
      <dgm:prSet presAssocID="{E7BEC5CE-8E14-4E59-948A-5B1E138C0C00}" presName="vert1" presStyleCnt="0"/>
      <dgm:spPr/>
    </dgm:pt>
    <dgm:pt modelId="{F61CB84C-D7A0-46D7-9F31-CB2146374F63}" type="pres">
      <dgm:prSet presAssocID="{125C6E57-F94B-4991-8924-C044B363ED3D}" presName="thickLine" presStyleLbl="alignNode1" presStyleIdx="2" presStyleCnt="3"/>
      <dgm:spPr/>
    </dgm:pt>
    <dgm:pt modelId="{1CC2198D-F915-46EF-90C6-B97388363B6C}" type="pres">
      <dgm:prSet presAssocID="{125C6E57-F94B-4991-8924-C044B363ED3D}" presName="horz1" presStyleCnt="0"/>
      <dgm:spPr/>
    </dgm:pt>
    <dgm:pt modelId="{101A0260-997A-4D3B-8208-CCAA89C72C9A}" type="pres">
      <dgm:prSet presAssocID="{125C6E57-F94B-4991-8924-C044B363ED3D}" presName="tx1" presStyleLbl="revTx" presStyleIdx="2" presStyleCnt="3"/>
      <dgm:spPr/>
    </dgm:pt>
    <dgm:pt modelId="{E68B4C57-9DE0-485C-A2C2-5A9131F9FDE3}" type="pres">
      <dgm:prSet presAssocID="{125C6E57-F94B-4991-8924-C044B363ED3D}" presName="vert1" presStyleCnt="0"/>
      <dgm:spPr/>
    </dgm:pt>
  </dgm:ptLst>
  <dgm:cxnLst>
    <dgm:cxn modelId="{7108BE00-8F70-474D-8F5A-B2A5C5404732}" srcId="{C2B6A2D6-BA4D-4D1A-82E8-549F5DAA524D}" destId="{521FFCD1-E7B6-4FB5-88EC-15340E9D5C89}" srcOrd="0" destOrd="0" parTransId="{FB1E8885-17D4-447A-960D-BC07A8DBEB20}" sibTransId="{C570548C-4C1B-42AD-A8F6-D5C0569F308E}"/>
    <dgm:cxn modelId="{88094331-8A98-44E4-A62F-01785C52D375}" type="presOf" srcId="{E7BEC5CE-8E14-4E59-948A-5B1E138C0C00}" destId="{51496AF4-F7A1-44C7-83BE-8B2C7998EB73}" srcOrd="0" destOrd="0" presId="urn:microsoft.com/office/officeart/2008/layout/LinedList"/>
    <dgm:cxn modelId="{B4025497-CD51-4D03-B03B-76B8BA389EA8}" srcId="{C2B6A2D6-BA4D-4D1A-82E8-549F5DAA524D}" destId="{E7BEC5CE-8E14-4E59-948A-5B1E138C0C00}" srcOrd="1" destOrd="0" parTransId="{7F757ACD-33B9-4591-8B87-1342D62372F9}" sibTransId="{81015E06-48EB-42C9-B805-D71DCE19401A}"/>
    <dgm:cxn modelId="{9831DCC6-1CF3-4BD6-8224-F5DB271AF52A}" srcId="{C2B6A2D6-BA4D-4D1A-82E8-549F5DAA524D}" destId="{125C6E57-F94B-4991-8924-C044B363ED3D}" srcOrd="2" destOrd="0" parTransId="{B772DC15-E8A7-486C-8E47-5E318810DC85}" sibTransId="{5D490098-352B-4403-9100-361E4317B3DC}"/>
    <dgm:cxn modelId="{28B533D8-2846-423A-B8F7-F9252D6AAB35}" type="presOf" srcId="{C2B6A2D6-BA4D-4D1A-82E8-549F5DAA524D}" destId="{3D64C4E9-D25F-4C31-B65A-F69EE97C5DBD}" srcOrd="0" destOrd="0" presId="urn:microsoft.com/office/officeart/2008/layout/LinedList"/>
    <dgm:cxn modelId="{BEB1FCDF-1CED-4F84-9191-3EE94B50A44B}" type="presOf" srcId="{125C6E57-F94B-4991-8924-C044B363ED3D}" destId="{101A0260-997A-4D3B-8208-CCAA89C72C9A}" srcOrd="0" destOrd="0" presId="urn:microsoft.com/office/officeart/2008/layout/LinedList"/>
    <dgm:cxn modelId="{8088D3F8-4DE8-41BD-A64E-D91B9A3BC22B}" type="presOf" srcId="{521FFCD1-E7B6-4FB5-88EC-15340E9D5C89}" destId="{E9C03305-FD34-42BE-97A8-AB6D4255E3A5}" srcOrd="0" destOrd="0" presId="urn:microsoft.com/office/officeart/2008/layout/LinedList"/>
    <dgm:cxn modelId="{DAC0EB28-835B-4E49-A087-A50D0F24283B}" type="presParOf" srcId="{3D64C4E9-D25F-4C31-B65A-F69EE97C5DBD}" destId="{C452405E-855E-467C-9D6F-455E03C6B103}" srcOrd="0" destOrd="0" presId="urn:microsoft.com/office/officeart/2008/layout/LinedList"/>
    <dgm:cxn modelId="{776D92A3-0D32-48A5-B308-14D018712FAA}" type="presParOf" srcId="{3D64C4E9-D25F-4C31-B65A-F69EE97C5DBD}" destId="{13C829C5-D4D8-460E-AF47-D5C899D2D883}" srcOrd="1" destOrd="0" presId="urn:microsoft.com/office/officeart/2008/layout/LinedList"/>
    <dgm:cxn modelId="{8C954000-155D-4B43-8A63-3F517F2BD9FB}" type="presParOf" srcId="{13C829C5-D4D8-460E-AF47-D5C899D2D883}" destId="{E9C03305-FD34-42BE-97A8-AB6D4255E3A5}" srcOrd="0" destOrd="0" presId="urn:microsoft.com/office/officeart/2008/layout/LinedList"/>
    <dgm:cxn modelId="{BF7B2884-93C1-4C5A-9508-DE0AC2F39524}" type="presParOf" srcId="{13C829C5-D4D8-460E-AF47-D5C899D2D883}" destId="{981E8BE8-9548-484E-8FB8-5F53A5DA875C}" srcOrd="1" destOrd="0" presId="urn:microsoft.com/office/officeart/2008/layout/LinedList"/>
    <dgm:cxn modelId="{19F617B8-611C-44F2-8248-B5E045FA3011}" type="presParOf" srcId="{3D64C4E9-D25F-4C31-B65A-F69EE97C5DBD}" destId="{A34683F8-2905-47C2-8EF9-B0BA67768B86}" srcOrd="2" destOrd="0" presId="urn:microsoft.com/office/officeart/2008/layout/LinedList"/>
    <dgm:cxn modelId="{11D4AD6A-C066-49AB-B0A3-960FBD965D98}" type="presParOf" srcId="{3D64C4E9-D25F-4C31-B65A-F69EE97C5DBD}" destId="{B1155B19-BE9E-4CF4-A3E5-A41DEA35AB7E}" srcOrd="3" destOrd="0" presId="urn:microsoft.com/office/officeart/2008/layout/LinedList"/>
    <dgm:cxn modelId="{DFB38D84-64AC-41E3-A588-EE630432AA40}" type="presParOf" srcId="{B1155B19-BE9E-4CF4-A3E5-A41DEA35AB7E}" destId="{51496AF4-F7A1-44C7-83BE-8B2C7998EB73}" srcOrd="0" destOrd="0" presId="urn:microsoft.com/office/officeart/2008/layout/LinedList"/>
    <dgm:cxn modelId="{66AC74D9-DC4E-4C6B-A6B1-F8F0917EE1BC}" type="presParOf" srcId="{B1155B19-BE9E-4CF4-A3E5-A41DEA35AB7E}" destId="{EDA9FBD6-D97F-4EDD-A019-9147520CCF22}" srcOrd="1" destOrd="0" presId="urn:microsoft.com/office/officeart/2008/layout/LinedList"/>
    <dgm:cxn modelId="{9B2071B2-04BE-4AF4-A1E5-D06B6DA38D8E}" type="presParOf" srcId="{3D64C4E9-D25F-4C31-B65A-F69EE97C5DBD}" destId="{F61CB84C-D7A0-46D7-9F31-CB2146374F63}" srcOrd="4" destOrd="0" presId="urn:microsoft.com/office/officeart/2008/layout/LinedList"/>
    <dgm:cxn modelId="{99D0E415-9D5D-4926-BD99-D94237804D6F}" type="presParOf" srcId="{3D64C4E9-D25F-4C31-B65A-F69EE97C5DBD}" destId="{1CC2198D-F915-46EF-90C6-B97388363B6C}" srcOrd="5" destOrd="0" presId="urn:microsoft.com/office/officeart/2008/layout/LinedList"/>
    <dgm:cxn modelId="{4E68AB4D-5551-4809-BCE7-A67109264DBC}" type="presParOf" srcId="{1CC2198D-F915-46EF-90C6-B97388363B6C}" destId="{101A0260-997A-4D3B-8208-CCAA89C72C9A}" srcOrd="0" destOrd="0" presId="urn:microsoft.com/office/officeart/2008/layout/LinedList"/>
    <dgm:cxn modelId="{57CCA9DF-5AE5-493E-B74A-5E4CBF91EF9C}" type="presParOf" srcId="{1CC2198D-F915-46EF-90C6-B97388363B6C}" destId="{E68B4C57-9DE0-485C-A2C2-5A9131F9FDE3}"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7B45A7-4D8D-4010-9014-C19F923C5CB0}">
      <dsp:nvSpPr>
        <dsp:cNvPr id="0" name=""/>
        <dsp:cNvSpPr/>
      </dsp:nvSpPr>
      <dsp:spPr>
        <a:xfrm>
          <a:off x="654112" y="1122839"/>
          <a:ext cx="1887187" cy="1887187"/>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37B0365-44B2-4509-95BA-03D8CE66E578}">
      <dsp:nvSpPr>
        <dsp:cNvPr id="0" name=""/>
        <dsp:cNvSpPr/>
      </dsp:nvSpPr>
      <dsp:spPr>
        <a:xfrm>
          <a:off x="1056299" y="1525027"/>
          <a:ext cx="1082812" cy="108281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BB60365-961D-4F52-93CD-A979F8EC9F8E}">
      <dsp:nvSpPr>
        <dsp:cNvPr id="0" name=""/>
        <dsp:cNvSpPr/>
      </dsp:nvSpPr>
      <dsp:spPr>
        <a:xfrm>
          <a:off x="50830" y="3597840"/>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AU" sz="1500" kern="1200"/>
            <a:t>Discounts margins and Profit margins are directly related.</a:t>
          </a:r>
          <a:endParaRPr lang="en-US" sz="1500" kern="1200"/>
        </a:p>
      </dsp:txBody>
      <dsp:txXfrm>
        <a:off x="50830" y="3597840"/>
        <a:ext cx="3093750" cy="720000"/>
      </dsp:txXfrm>
    </dsp:sp>
    <dsp:sp modelId="{7193E7AB-4AA7-4271-B132-BA35D10F915D}">
      <dsp:nvSpPr>
        <dsp:cNvPr id="0" name=""/>
        <dsp:cNvSpPr/>
      </dsp:nvSpPr>
      <dsp:spPr>
        <a:xfrm>
          <a:off x="4289268" y="1122839"/>
          <a:ext cx="1887187" cy="1887187"/>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72340C2-D747-4D62-AF20-9A01295E7EE9}">
      <dsp:nvSpPr>
        <dsp:cNvPr id="0" name=""/>
        <dsp:cNvSpPr/>
      </dsp:nvSpPr>
      <dsp:spPr>
        <a:xfrm>
          <a:off x="4691455" y="1525027"/>
          <a:ext cx="1082812" cy="108281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A8C41C9-27FD-4EC9-A48F-5010ABE8E4FE}">
      <dsp:nvSpPr>
        <dsp:cNvPr id="0" name=""/>
        <dsp:cNvSpPr/>
      </dsp:nvSpPr>
      <dsp:spPr>
        <a:xfrm>
          <a:off x="3685987" y="3597840"/>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AU" sz="1500" kern="1200"/>
            <a:t>Maximum discount availed is 30%.</a:t>
          </a:r>
          <a:endParaRPr lang="en-US" sz="1500" kern="1200"/>
        </a:p>
      </dsp:txBody>
      <dsp:txXfrm>
        <a:off x="3685987" y="3597840"/>
        <a:ext cx="309375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5EC500-B005-4387-A04E-2EFCA9C134D5}">
      <dsp:nvSpPr>
        <dsp:cNvPr id="0" name=""/>
        <dsp:cNvSpPr/>
      </dsp:nvSpPr>
      <dsp:spPr>
        <a:xfrm>
          <a:off x="1507565" y="23152"/>
          <a:ext cx="1303875" cy="1303875"/>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6E3AAE-1427-4350-8D31-85F822C23A78}">
      <dsp:nvSpPr>
        <dsp:cNvPr id="0" name=""/>
        <dsp:cNvSpPr/>
      </dsp:nvSpPr>
      <dsp:spPr>
        <a:xfrm>
          <a:off x="1785440" y="301027"/>
          <a:ext cx="748125" cy="74812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94D497F-D37B-4CD6-869E-384CAA3A71BE}">
      <dsp:nvSpPr>
        <dsp:cNvPr id="0" name=""/>
        <dsp:cNvSpPr/>
      </dsp:nvSpPr>
      <dsp:spPr>
        <a:xfrm>
          <a:off x="1090752" y="1733152"/>
          <a:ext cx="2137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defRPr cap="all"/>
          </a:pPr>
          <a:r>
            <a:rPr lang="en-AU" sz="1300" kern="1200"/>
            <a:t>To reduce revenue lost due to discounts by 10%.</a:t>
          </a:r>
          <a:endParaRPr lang="en-US" sz="1300" kern="1200"/>
        </a:p>
      </dsp:txBody>
      <dsp:txXfrm>
        <a:off x="1090752" y="1733152"/>
        <a:ext cx="2137500" cy="720000"/>
      </dsp:txXfrm>
    </dsp:sp>
    <dsp:sp modelId="{05CE3335-0A3F-4F6B-8DD2-905C0682F584}">
      <dsp:nvSpPr>
        <dsp:cNvPr id="0" name=""/>
        <dsp:cNvSpPr/>
      </dsp:nvSpPr>
      <dsp:spPr>
        <a:xfrm>
          <a:off x="4019127" y="23152"/>
          <a:ext cx="1303875" cy="1303875"/>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B387EA7-C382-460D-8AD7-AFFE81D485B2}">
      <dsp:nvSpPr>
        <dsp:cNvPr id="0" name=""/>
        <dsp:cNvSpPr/>
      </dsp:nvSpPr>
      <dsp:spPr>
        <a:xfrm>
          <a:off x="4297002" y="301027"/>
          <a:ext cx="748125" cy="74812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8026310-FA5F-490B-8AA9-D9CF189DD20D}">
      <dsp:nvSpPr>
        <dsp:cNvPr id="0" name=""/>
        <dsp:cNvSpPr/>
      </dsp:nvSpPr>
      <dsp:spPr>
        <a:xfrm>
          <a:off x="3602315" y="1733152"/>
          <a:ext cx="2137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defRPr cap="all"/>
          </a:pPr>
          <a:r>
            <a:rPr lang="en-AU" sz="1300" kern="1200"/>
            <a:t>Evaluate how discounts margins effect Revenue and Profit.</a:t>
          </a:r>
          <a:endParaRPr lang="en-US" sz="1300" kern="1200"/>
        </a:p>
      </dsp:txBody>
      <dsp:txXfrm>
        <a:off x="3602315" y="1733152"/>
        <a:ext cx="2137500" cy="720000"/>
      </dsp:txXfrm>
    </dsp:sp>
    <dsp:sp modelId="{B1E9D8AD-D195-42BB-8E57-8575E0D99E93}">
      <dsp:nvSpPr>
        <dsp:cNvPr id="0" name=""/>
        <dsp:cNvSpPr/>
      </dsp:nvSpPr>
      <dsp:spPr>
        <a:xfrm>
          <a:off x="2763346" y="2987527"/>
          <a:ext cx="1303875" cy="1303875"/>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CD7F781-A7CB-4F7D-8251-EAC8D9E989D6}">
      <dsp:nvSpPr>
        <dsp:cNvPr id="0" name=""/>
        <dsp:cNvSpPr/>
      </dsp:nvSpPr>
      <dsp:spPr>
        <a:xfrm>
          <a:off x="3041221" y="3265402"/>
          <a:ext cx="748125" cy="74812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55968B8-0366-4798-8975-56C13C3C9A8D}">
      <dsp:nvSpPr>
        <dsp:cNvPr id="0" name=""/>
        <dsp:cNvSpPr/>
      </dsp:nvSpPr>
      <dsp:spPr>
        <a:xfrm>
          <a:off x="2346534" y="4697527"/>
          <a:ext cx="2137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defRPr cap="all"/>
          </a:pPr>
          <a:r>
            <a:rPr lang="en-AU" sz="1300" kern="1200"/>
            <a:t>Recommend discount strategies to improve overall efficiency</a:t>
          </a:r>
          <a:endParaRPr lang="en-US" sz="1300" kern="1200"/>
        </a:p>
      </dsp:txBody>
      <dsp:txXfrm>
        <a:off x="2346534" y="4697527"/>
        <a:ext cx="2137500" cy="72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D810A5-6149-47B7-9FF8-BC74C0BB9C25}">
      <dsp:nvSpPr>
        <dsp:cNvPr id="0" name=""/>
        <dsp:cNvSpPr/>
      </dsp:nvSpPr>
      <dsp:spPr>
        <a:xfrm>
          <a:off x="518620" y="189925"/>
          <a:ext cx="1193895" cy="1193895"/>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7430272-5197-4010-B603-69DCA46A633B}">
      <dsp:nvSpPr>
        <dsp:cNvPr id="0" name=""/>
        <dsp:cNvSpPr/>
      </dsp:nvSpPr>
      <dsp:spPr>
        <a:xfrm>
          <a:off x="773056" y="444361"/>
          <a:ext cx="685021" cy="68502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ECAE591-1A9A-4191-887E-1E1AF79C146C}">
      <dsp:nvSpPr>
        <dsp:cNvPr id="0" name=""/>
        <dsp:cNvSpPr/>
      </dsp:nvSpPr>
      <dsp:spPr>
        <a:xfrm>
          <a:off x="136965" y="1755689"/>
          <a:ext cx="195720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cap="all"/>
          </a:pPr>
          <a:r>
            <a:rPr lang="en-AU" sz="1400" kern="1200"/>
            <a:t>Total Revenue - $32.9M.</a:t>
          </a:r>
          <a:endParaRPr lang="en-US" sz="1400" kern="1200"/>
        </a:p>
      </dsp:txBody>
      <dsp:txXfrm>
        <a:off x="136965" y="1755689"/>
        <a:ext cx="1957205" cy="720000"/>
      </dsp:txXfrm>
    </dsp:sp>
    <dsp:sp modelId="{74072388-D187-4BEC-8CD1-78CEBC023DDE}">
      <dsp:nvSpPr>
        <dsp:cNvPr id="0" name=""/>
        <dsp:cNvSpPr/>
      </dsp:nvSpPr>
      <dsp:spPr>
        <a:xfrm>
          <a:off x="2818336" y="189925"/>
          <a:ext cx="1193895" cy="1193895"/>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8AD32F8-0562-46D3-AD1A-96F90A1D9E64}">
      <dsp:nvSpPr>
        <dsp:cNvPr id="0" name=""/>
        <dsp:cNvSpPr/>
      </dsp:nvSpPr>
      <dsp:spPr>
        <a:xfrm>
          <a:off x="3072773" y="444361"/>
          <a:ext cx="685021" cy="68502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0CC874D-132B-4273-AD7F-6249BEC1BDC0}">
      <dsp:nvSpPr>
        <dsp:cNvPr id="0" name=""/>
        <dsp:cNvSpPr/>
      </dsp:nvSpPr>
      <dsp:spPr>
        <a:xfrm>
          <a:off x="2436681" y="1755689"/>
          <a:ext cx="195720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cap="all"/>
          </a:pPr>
          <a:r>
            <a:rPr lang="en-AU" sz="1400" kern="1200"/>
            <a:t>Average Order Value - $657.</a:t>
          </a:r>
          <a:endParaRPr lang="en-US" sz="1400" kern="1200"/>
        </a:p>
      </dsp:txBody>
      <dsp:txXfrm>
        <a:off x="2436681" y="1755689"/>
        <a:ext cx="1957205" cy="720000"/>
      </dsp:txXfrm>
    </dsp:sp>
    <dsp:sp modelId="{C29E068A-0148-4D44-A40B-1BB823D45928}">
      <dsp:nvSpPr>
        <dsp:cNvPr id="0" name=""/>
        <dsp:cNvSpPr/>
      </dsp:nvSpPr>
      <dsp:spPr>
        <a:xfrm>
          <a:off x="5118052" y="189925"/>
          <a:ext cx="1193895" cy="1193895"/>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4620F55-9D69-4138-8360-31204C03E753}">
      <dsp:nvSpPr>
        <dsp:cNvPr id="0" name=""/>
        <dsp:cNvSpPr/>
      </dsp:nvSpPr>
      <dsp:spPr>
        <a:xfrm>
          <a:off x="5372489" y="444361"/>
          <a:ext cx="685021" cy="68502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4CB4B6A-3A28-472E-8723-6B707B43ECEB}">
      <dsp:nvSpPr>
        <dsp:cNvPr id="0" name=""/>
        <dsp:cNvSpPr/>
      </dsp:nvSpPr>
      <dsp:spPr>
        <a:xfrm>
          <a:off x="4736397" y="1755689"/>
          <a:ext cx="195720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cap="all"/>
          </a:pPr>
          <a:r>
            <a:rPr lang="en-AU" sz="1400" kern="1200"/>
            <a:t>Total Quantity Sold – 150K.</a:t>
          </a:r>
          <a:endParaRPr lang="en-US" sz="1400" kern="1200"/>
        </a:p>
      </dsp:txBody>
      <dsp:txXfrm>
        <a:off x="4736397" y="1755689"/>
        <a:ext cx="1957205" cy="720000"/>
      </dsp:txXfrm>
    </dsp:sp>
    <dsp:sp modelId="{EAEA63A1-8183-44E9-B5F4-E4A031A862C8}">
      <dsp:nvSpPr>
        <dsp:cNvPr id="0" name=""/>
        <dsp:cNvSpPr/>
      </dsp:nvSpPr>
      <dsp:spPr>
        <a:xfrm>
          <a:off x="1668478" y="2964990"/>
          <a:ext cx="1193895" cy="1193895"/>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81676F4-908F-4FD5-A93B-DA78087C394A}">
      <dsp:nvSpPr>
        <dsp:cNvPr id="0" name=""/>
        <dsp:cNvSpPr/>
      </dsp:nvSpPr>
      <dsp:spPr>
        <a:xfrm>
          <a:off x="1922914" y="3219427"/>
          <a:ext cx="685021" cy="68502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9DA42CD-85C7-4F29-A894-EFF228F811E4}">
      <dsp:nvSpPr>
        <dsp:cNvPr id="0" name=""/>
        <dsp:cNvSpPr/>
      </dsp:nvSpPr>
      <dsp:spPr>
        <a:xfrm>
          <a:off x="1286823" y="4530754"/>
          <a:ext cx="195720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cap="all"/>
          </a:pPr>
          <a:r>
            <a:rPr lang="en-AU" sz="1400" kern="1200"/>
            <a:t>Discount Percentage of Total Quantity – 83.6%.</a:t>
          </a:r>
          <a:endParaRPr lang="en-US" sz="1400" kern="1200"/>
        </a:p>
      </dsp:txBody>
      <dsp:txXfrm>
        <a:off x="1286823" y="4530754"/>
        <a:ext cx="1957205" cy="720000"/>
      </dsp:txXfrm>
    </dsp:sp>
    <dsp:sp modelId="{42CDDBF6-4374-4073-A510-69BC5986EE79}">
      <dsp:nvSpPr>
        <dsp:cNvPr id="0" name=""/>
        <dsp:cNvSpPr/>
      </dsp:nvSpPr>
      <dsp:spPr>
        <a:xfrm>
          <a:off x="3968194" y="2964990"/>
          <a:ext cx="1193895" cy="1193895"/>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625BF05-2C66-438A-969A-492985FC9C61}">
      <dsp:nvSpPr>
        <dsp:cNvPr id="0" name=""/>
        <dsp:cNvSpPr/>
      </dsp:nvSpPr>
      <dsp:spPr>
        <a:xfrm>
          <a:off x="4222631" y="3219427"/>
          <a:ext cx="685021" cy="685021"/>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859A9A9-AC69-495B-8254-DA7F55FFCFC2}">
      <dsp:nvSpPr>
        <dsp:cNvPr id="0" name=""/>
        <dsp:cNvSpPr/>
      </dsp:nvSpPr>
      <dsp:spPr>
        <a:xfrm>
          <a:off x="3586539" y="4530754"/>
          <a:ext cx="195720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cap="all"/>
          </a:pPr>
          <a:r>
            <a:rPr lang="en-AU" sz="1400" kern="1200"/>
            <a:t>Top Category with highest discounted items – Fashion.</a:t>
          </a:r>
          <a:endParaRPr lang="en-US" sz="1400" kern="1200"/>
        </a:p>
      </dsp:txBody>
      <dsp:txXfrm>
        <a:off x="3586539" y="4530754"/>
        <a:ext cx="1957205" cy="720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3E4706-68D5-4823-B3D9-52817484D24C}">
      <dsp:nvSpPr>
        <dsp:cNvPr id="0" name=""/>
        <dsp:cNvSpPr/>
      </dsp:nvSpPr>
      <dsp:spPr>
        <a:xfrm>
          <a:off x="236304" y="1034556"/>
          <a:ext cx="735574" cy="735574"/>
        </a:xfrm>
        <a:prstGeom prst="round2DiagRect">
          <a:avLst>
            <a:gd name="adj1" fmla="val 29727"/>
            <a:gd name="adj2" fmla="val 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D1FA123-5BB2-464D-AB8E-808ECDEE6844}">
      <dsp:nvSpPr>
        <dsp:cNvPr id="0" name=""/>
        <dsp:cNvSpPr/>
      </dsp:nvSpPr>
      <dsp:spPr>
        <a:xfrm>
          <a:off x="393066" y="1191318"/>
          <a:ext cx="422050" cy="42205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40E4183-BC11-474B-89BA-260B16A8D72C}">
      <dsp:nvSpPr>
        <dsp:cNvPr id="0" name=""/>
        <dsp:cNvSpPr/>
      </dsp:nvSpPr>
      <dsp:spPr>
        <a:xfrm>
          <a:off x="1162" y="1999244"/>
          <a:ext cx="1205859" cy="1158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b="1" i="0" kern="1200" baseline="0"/>
            <a:t>Revenue &amp; Volume:</a:t>
          </a:r>
          <a:r>
            <a:rPr lang="en-US" sz="1100" b="0" i="0" kern="1200" baseline="0"/>
            <a:t> Total revenue stands at </a:t>
          </a:r>
          <a:r>
            <a:rPr lang="en-US" sz="1100" b="1" i="0" kern="1200" baseline="0"/>
            <a:t>$5.5M</a:t>
          </a:r>
          <a:r>
            <a:rPr lang="en-US" sz="1100" b="0" i="0" kern="1200" baseline="0"/>
            <a:t> with a total quantity sold of 1</a:t>
          </a:r>
          <a:r>
            <a:rPr lang="en-US" sz="1100" b="1" kern="1200"/>
            <a:t>5</a:t>
          </a:r>
          <a:r>
            <a:rPr lang="en-US" sz="1100" b="1" i="0" kern="1200" baseline="0"/>
            <a:t>0K</a:t>
          </a:r>
          <a:r>
            <a:rPr lang="en-US" sz="1100" b="0" i="0" kern="1200" baseline="0"/>
            <a:t> units. The Average Order Value (AOV) is </a:t>
          </a:r>
          <a:r>
            <a:rPr lang="en-US" sz="1100" b="1" i="0" kern="1200" baseline="0"/>
            <a:t>$659</a:t>
          </a:r>
          <a:r>
            <a:rPr lang="en-US" sz="1100" b="0" i="0" kern="1200" baseline="0"/>
            <a:t>.</a:t>
          </a:r>
          <a:endParaRPr lang="en-US" sz="1100" kern="1200"/>
        </a:p>
      </dsp:txBody>
      <dsp:txXfrm>
        <a:off x="1162" y="1999244"/>
        <a:ext cx="1205859" cy="1158718"/>
      </dsp:txXfrm>
    </dsp:sp>
    <dsp:sp modelId="{A4B724B3-A3DA-456B-B3D8-D7B16A243F26}">
      <dsp:nvSpPr>
        <dsp:cNvPr id="0" name=""/>
        <dsp:cNvSpPr/>
      </dsp:nvSpPr>
      <dsp:spPr>
        <a:xfrm>
          <a:off x="1653189" y="1034556"/>
          <a:ext cx="735574" cy="735574"/>
        </a:xfrm>
        <a:prstGeom prst="round2DiagRect">
          <a:avLst>
            <a:gd name="adj1" fmla="val 29727"/>
            <a:gd name="adj2" fmla="val 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72AF16F-0023-4979-A6EF-7D0C32DE8E48}">
      <dsp:nvSpPr>
        <dsp:cNvPr id="0" name=""/>
        <dsp:cNvSpPr/>
      </dsp:nvSpPr>
      <dsp:spPr>
        <a:xfrm>
          <a:off x="1809951" y="1191318"/>
          <a:ext cx="422050" cy="42205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721945C-D942-468A-BC1E-E9AC776F1889}">
      <dsp:nvSpPr>
        <dsp:cNvPr id="0" name=""/>
        <dsp:cNvSpPr/>
      </dsp:nvSpPr>
      <dsp:spPr>
        <a:xfrm>
          <a:off x="1418046" y="1999244"/>
          <a:ext cx="1205859" cy="1158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b="1" i="0" kern="1200" baseline="0"/>
            <a:t>Discount Penetration:</a:t>
          </a:r>
          <a:r>
            <a:rPr lang="en-US" sz="1100" b="0" i="0" kern="1200" baseline="0"/>
            <a:t> A staggering </a:t>
          </a:r>
          <a:r>
            <a:rPr lang="en-US" sz="1100" b="1" i="0" kern="1200" baseline="0"/>
            <a:t>83.7%</a:t>
          </a:r>
          <a:r>
            <a:rPr lang="en-US" sz="1100" b="0" i="0" kern="1200" baseline="0"/>
            <a:t> of all quantities sold are discounted. In the </a:t>
          </a:r>
          <a:r>
            <a:rPr lang="en-US" sz="1100" b="1" i="0" kern="1200" baseline="0"/>
            <a:t>Books</a:t>
          </a:r>
          <a:r>
            <a:rPr lang="en-US" sz="1100" b="0" i="0" kern="1200" baseline="0"/>
            <a:t> category specifically, this rises slightly to </a:t>
          </a:r>
          <a:r>
            <a:rPr lang="en-US" sz="1100" b="1" i="0" kern="1200" baseline="0"/>
            <a:t>83.74%</a:t>
          </a:r>
          <a:r>
            <a:rPr lang="en-US" sz="1100" b="0" i="0" kern="1200" baseline="0"/>
            <a:t>.</a:t>
          </a:r>
          <a:endParaRPr lang="en-US" sz="1100" kern="1200"/>
        </a:p>
      </dsp:txBody>
      <dsp:txXfrm>
        <a:off x="1418046" y="1999244"/>
        <a:ext cx="1205859" cy="1158718"/>
      </dsp:txXfrm>
    </dsp:sp>
    <dsp:sp modelId="{A4109A8B-9860-4B49-805D-1769D9FF3F7D}">
      <dsp:nvSpPr>
        <dsp:cNvPr id="0" name=""/>
        <dsp:cNvSpPr/>
      </dsp:nvSpPr>
      <dsp:spPr>
        <a:xfrm>
          <a:off x="3070074" y="1034556"/>
          <a:ext cx="735574" cy="735574"/>
        </a:xfrm>
        <a:prstGeom prst="round2DiagRect">
          <a:avLst>
            <a:gd name="adj1" fmla="val 29727"/>
            <a:gd name="adj2" fmla="val 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8E8D8A5-0425-4695-8CCE-4AA72FC19240}">
      <dsp:nvSpPr>
        <dsp:cNvPr id="0" name=""/>
        <dsp:cNvSpPr/>
      </dsp:nvSpPr>
      <dsp:spPr>
        <a:xfrm>
          <a:off x="3226835" y="1191318"/>
          <a:ext cx="422050" cy="42205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09F4465-2C62-4DEF-91AF-ABAE6FEA2C52}">
      <dsp:nvSpPr>
        <dsp:cNvPr id="0" name=""/>
        <dsp:cNvSpPr/>
      </dsp:nvSpPr>
      <dsp:spPr>
        <a:xfrm>
          <a:off x="2834931" y="1999244"/>
          <a:ext cx="1205859" cy="1158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b="1" i="0" kern="1200" baseline="0"/>
            <a:t>Category Performance:</a:t>
          </a:r>
          <a:r>
            <a:rPr lang="en-US" sz="1100" b="0" i="0" kern="1200" baseline="0"/>
            <a:t> </a:t>
          </a:r>
          <a:r>
            <a:rPr lang="en-US" sz="1100" b="1" i="0" kern="1200" baseline="0"/>
            <a:t>Beauty</a:t>
          </a:r>
          <a:r>
            <a:rPr lang="en-US" sz="1100" b="0" i="0" kern="1200" baseline="0"/>
            <a:t> leads in both total quantity and discount totals, followed by Books. </a:t>
          </a:r>
          <a:r>
            <a:rPr lang="en-US" sz="1100" b="1" i="0" kern="1200" baseline="0"/>
            <a:t>Home &amp; Kitchen</a:t>
          </a:r>
          <a:r>
            <a:rPr lang="en-US" sz="1100" i="0" kern="1200" baseline="0"/>
            <a:t> </a:t>
          </a:r>
          <a:r>
            <a:rPr lang="en-US" sz="1100" b="0" i="0" kern="1200" baseline="0"/>
            <a:t>sits at the bottom of the volume scale.</a:t>
          </a:r>
          <a:endParaRPr lang="en-US" sz="1100" kern="1200"/>
        </a:p>
      </dsp:txBody>
      <dsp:txXfrm>
        <a:off x="2834931" y="1999244"/>
        <a:ext cx="1205859" cy="1158718"/>
      </dsp:txXfrm>
    </dsp:sp>
    <dsp:sp modelId="{ADD0CD38-9A24-4E3E-898D-BA039B8D83CE}">
      <dsp:nvSpPr>
        <dsp:cNvPr id="0" name=""/>
        <dsp:cNvSpPr/>
      </dsp:nvSpPr>
      <dsp:spPr>
        <a:xfrm>
          <a:off x="4486959" y="1034556"/>
          <a:ext cx="735574" cy="735574"/>
        </a:xfrm>
        <a:prstGeom prst="round2DiagRect">
          <a:avLst>
            <a:gd name="adj1" fmla="val 29727"/>
            <a:gd name="adj2" fmla="val 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27B1C80-E65A-4BF9-A5B4-1C049E5D17B2}">
      <dsp:nvSpPr>
        <dsp:cNvPr id="0" name=""/>
        <dsp:cNvSpPr/>
      </dsp:nvSpPr>
      <dsp:spPr>
        <a:xfrm>
          <a:off x="4643720" y="1191318"/>
          <a:ext cx="422050" cy="42205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DEB5423-6C6B-4709-BDDF-236101D8E79A}">
      <dsp:nvSpPr>
        <dsp:cNvPr id="0" name=""/>
        <dsp:cNvSpPr/>
      </dsp:nvSpPr>
      <dsp:spPr>
        <a:xfrm>
          <a:off x="4251816" y="1999244"/>
          <a:ext cx="1205859" cy="1158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b="1" i="0" kern="1200" baseline="0"/>
            <a:t>Discount Distribution:</a:t>
          </a:r>
          <a:r>
            <a:rPr lang="en-US" sz="1100" b="0" i="0" kern="1200" baseline="0"/>
            <a:t> The "Quantity by Discount" donut chart shows an almost perfectly even split across discount slabs (0%, 5%, 10%, 15%, 20%, 30%), each hovering around </a:t>
          </a:r>
          <a:r>
            <a:rPr lang="en-US" sz="1100" b="1" i="0" kern="1200" baseline="0"/>
            <a:t>2.6% to 2.9%</a:t>
          </a:r>
          <a:r>
            <a:rPr lang="en-US" sz="1100" b="0" i="0" kern="1200" baseline="0"/>
            <a:t> of the total.</a:t>
          </a:r>
          <a:endParaRPr lang="en-US" sz="1100" kern="1200"/>
        </a:p>
      </dsp:txBody>
      <dsp:txXfrm>
        <a:off x="4251816" y="1999244"/>
        <a:ext cx="1205859" cy="115871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6DD7D2-D0E4-48B7-9143-DC1363C6017D}">
      <dsp:nvSpPr>
        <dsp:cNvPr id="0" name=""/>
        <dsp:cNvSpPr/>
      </dsp:nvSpPr>
      <dsp:spPr>
        <a:xfrm>
          <a:off x="539201" y="391946"/>
          <a:ext cx="810000" cy="81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56E5428-C5B4-4697-A4F2-70833E694616}">
      <dsp:nvSpPr>
        <dsp:cNvPr id="0" name=""/>
        <dsp:cNvSpPr/>
      </dsp:nvSpPr>
      <dsp:spPr>
        <a:xfrm>
          <a:off x="44201" y="1737165"/>
          <a:ext cx="1800000" cy="22222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b="1" i="0" kern="1200" baseline="0"/>
            <a:t>The Price Elasticity Trap:</a:t>
          </a:r>
          <a:r>
            <a:rPr lang="en-US" sz="1100" b="0" i="0" kern="1200" baseline="0"/>
            <a:t> There is a clear </a:t>
          </a:r>
          <a:r>
            <a:rPr lang="en-US" sz="1100" b="1" i="0" kern="1200" baseline="0"/>
            <a:t>inverse relationship between discount depth and AOV</a:t>
          </a:r>
          <a:r>
            <a:rPr lang="en-US" sz="1100" b="0" i="0" kern="1200" baseline="0"/>
            <a:t>. At a 0% discount, the AOV is </a:t>
          </a:r>
          <a:r>
            <a:rPr lang="en-US" sz="1100" b="1" i="0" kern="1200" baseline="0"/>
            <a:t>$749</a:t>
          </a:r>
          <a:r>
            <a:rPr lang="en-US" sz="1100" b="0" i="0" kern="1200" baseline="0"/>
            <a:t>, but it drops to </a:t>
          </a:r>
          <a:r>
            <a:rPr lang="en-US" sz="1100" b="1" i="0" kern="1200" baseline="0"/>
            <a:t>$522</a:t>
          </a:r>
          <a:r>
            <a:rPr lang="en-US" sz="1100" b="0" i="0" kern="1200" baseline="0"/>
            <a:t> at a 30% discount. This suggests that while higher discounts move volume, they are significantly eroding the premium value of the orders.</a:t>
          </a:r>
          <a:endParaRPr lang="en-US" sz="1100" kern="1200"/>
        </a:p>
      </dsp:txBody>
      <dsp:txXfrm>
        <a:off x="44201" y="1737165"/>
        <a:ext cx="1800000" cy="2222226"/>
      </dsp:txXfrm>
    </dsp:sp>
    <dsp:sp modelId="{BB6CE802-2BAB-403D-83A7-2D4FBE7B78B1}">
      <dsp:nvSpPr>
        <dsp:cNvPr id="0" name=""/>
        <dsp:cNvSpPr/>
      </dsp:nvSpPr>
      <dsp:spPr>
        <a:xfrm>
          <a:off x="2654201" y="391946"/>
          <a:ext cx="810000" cy="81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F023D52-2CCB-4302-8430-5142888DF043}">
      <dsp:nvSpPr>
        <dsp:cNvPr id="0" name=""/>
        <dsp:cNvSpPr/>
      </dsp:nvSpPr>
      <dsp:spPr>
        <a:xfrm>
          <a:off x="2159201" y="1737165"/>
          <a:ext cx="1800000" cy="22222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b="1" i="0" kern="1200" baseline="0"/>
            <a:t>Inelastic Categories:</a:t>
          </a:r>
          <a:r>
            <a:rPr lang="en-US" sz="1100" b="0" i="0" kern="1200" baseline="0"/>
            <a:t> Despite different discount levels across categories, the "Quantity and Discount per Category" chart shows that quantities stay within a relatively tight range (</a:t>
          </a:r>
          <a:r>
            <a:rPr lang="en-US" sz="1100" b="1" i="0" kern="1200" baseline="0"/>
            <a:t>824K to 854K</a:t>
          </a:r>
          <a:r>
            <a:rPr lang="en-US" sz="1100" b="0" i="0" kern="1200" baseline="0"/>
            <a:t> in the line chart peaks). This suggests that customers may be buying based on need rather than being heavily swayed to switch categories by the size of the discount.</a:t>
          </a:r>
          <a:endParaRPr lang="en-US" sz="1100" kern="1200"/>
        </a:p>
      </dsp:txBody>
      <dsp:txXfrm>
        <a:off x="2159201" y="1737165"/>
        <a:ext cx="1800000" cy="2222226"/>
      </dsp:txXfrm>
    </dsp:sp>
    <dsp:sp modelId="{E80F2C7B-E30E-4833-B772-E1532A627074}">
      <dsp:nvSpPr>
        <dsp:cNvPr id="0" name=""/>
        <dsp:cNvSpPr/>
      </dsp:nvSpPr>
      <dsp:spPr>
        <a:xfrm>
          <a:off x="4769201" y="391946"/>
          <a:ext cx="810000" cy="81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7F37CF5-42B2-4387-B25E-839C327B2029}">
      <dsp:nvSpPr>
        <dsp:cNvPr id="0" name=""/>
        <dsp:cNvSpPr/>
      </dsp:nvSpPr>
      <dsp:spPr>
        <a:xfrm>
          <a:off x="4274201" y="1737165"/>
          <a:ext cx="1800000" cy="22222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b="1" i="0" kern="1200" baseline="0"/>
            <a:t>Discount Slab Efficiency:</a:t>
          </a:r>
          <a:r>
            <a:rPr lang="en-US" sz="1100" b="0" i="0" kern="1200" baseline="0"/>
            <a:t> The "Total Discount by Discount Slab" chart shows that the </a:t>
          </a:r>
          <a:r>
            <a:rPr lang="en-US" sz="1100" b="1" i="0" kern="1200" baseline="0"/>
            <a:t>30% slab</a:t>
          </a:r>
          <a:r>
            <a:rPr lang="en-US" sz="1100" b="0" i="0" kern="1200" baseline="0"/>
            <a:t> accounts for the highest total discount spend (</a:t>
          </a:r>
          <a:r>
            <a:rPr lang="en-US" sz="1100" b="1" i="0" kern="1200" baseline="0"/>
            <a:t>0.31M</a:t>
          </a:r>
          <a:r>
            <a:rPr lang="en-US" sz="1100" b="0" i="0" kern="1200" baseline="0"/>
            <a:t>), yet it results in the lowest average revenue share.</a:t>
          </a:r>
          <a:endParaRPr lang="en-US" sz="1100" kern="1200"/>
        </a:p>
      </dsp:txBody>
      <dsp:txXfrm>
        <a:off x="4274201" y="1737165"/>
        <a:ext cx="1800000" cy="222222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A38F17-5836-405E-A661-2DB0173D2302}">
      <dsp:nvSpPr>
        <dsp:cNvPr id="0" name=""/>
        <dsp:cNvSpPr/>
      </dsp:nvSpPr>
      <dsp:spPr>
        <a:xfrm>
          <a:off x="0" y="30221"/>
          <a:ext cx="4282984" cy="112554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b="1" i="0" kern="1200" baseline="0"/>
            <a:t>AOV Protection:</a:t>
          </a:r>
          <a:r>
            <a:rPr lang="en-US" sz="1300" b="0" i="0" kern="1200" baseline="0"/>
            <a:t> Reduce the frequency of the </a:t>
          </a:r>
          <a:r>
            <a:rPr lang="en-US" sz="1300" b="1" i="0" kern="1200" baseline="0"/>
            <a:t>30% discount slab</a:t>
          </a:r>
          <a:r>
            <a:rPr lang="en-US" sz="1300" b="0" i="0" kern="1200" baseline="0"/>
            <a:t>, as it yields the lowest revenue share ($522). Shift that promotional budget toward the </a:t>
          </a:r>
          <a:r>
            <a:rPr lang="en-US" sz="1300" b="1" i="0" kern="1200" baseline="0"/>
            <a:t>10% and 15% slabs</a:t>
          </a:r>
          <a:r>
            <a:rPr lang="en-US" sz="1300" b="0" i="0" kern="1200" baseline="0"/>
            <a:t>, which maintain a healthier AOV (approx. $691–$728).</a:t>
          </a:r>
          <a:endParaRPr lang="en-US" sz="1300" kern="1200"/>
        </a:p>
      </dsp:txBody>
      <dsp:txXfrm>
        <a:off x="54944" y="85165"/>
        <a:ext cx="4173096" cy="1015652"/>
      </dsp:txXfrm>
    </dsp:sp>
    <dsp:sp modelId="{A0B0E764-6C75-479C-8258-DEF5520C0542}">
      <dsp:nvSpPr>
        <dsp:cNvPr id="0" name=""/>
        <dsp:cNvSpPr/>
      </dsp:nvSpPr>
      <dsp:spPr>
        <a:xfrm>
          <a:off x="0" y="1193201"/>
          <a:ext cx="4282984" cy="112554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b="1" i="0" kern="1200" baseline="0"/>
            <a:t>Category-Specific Bundling:</a:t>
          </a:r>
          <a:r>
            <a:rPr lang="en-US" sz="1300" b="0" i="0" kern="1200" baseline="0"/>
            <a:t> Since Books and Beauty have the highest discount reliance, introduce "Buy One Get One" or "Bundle" offers to increase the number of items per order, helping to offset the high discount rate.</a:t>
          </a:r>
          <a:endParaRPr lang="en-US" sz="1300" kern="1200"/>
        </a:p>
      </dsp:txBody>
      <dsp:txXfrm>
        <a:off x="54944" y="1248145"/>
        <a:ext cx="4173096" cy="1015652"/>
      </dsp:txXfrm>
    </dsp:sp>
    <dsp:sp modelId="{3D785E38-B70F-424F-A26A-2BDDBBEB5460}">
      <dsp:nvSpPr>
        <dsp:cNvPr id="0" name=""/>
        <dsp:cNvSpPr/>
      </dsp:nvSpPr>
      <dsp:spPr>
        <a:xfrm>
          <a:off x="0" y="2356181"/>
          <a:ext cx="4282984" cy="112554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b="1" i="0" kern="1200" baseline="0"/>
            <a:t>Inventory Clearing:</a:t>
          </a:r>
          <a:r>
            <a:rPr lang="en-US" sz="1300" b="0" i="0" kern="1200" baseline="0"/>
            <a:t> Use the high-volume/high-discount trend in </a:t>
          </a:r>
          <a:r>
            <a:rPr lang="en-US" sz="1300" b="1" i="0" kern="1200" baseline="0"/>
            <a:t>Beauty</a:t>
          </a:r>
          <a:r>
            <a:rPr lang="en-US" sz="1300" b="0" i="0" kern="1200" baseline="0"/>
            <a:t> to aggressively clear slow-moving stock, but keep the discounts capped at 20% to avoid excessive revenue erosion.</a:t>
          </a:r>
          <a:endParaRPr lang="en-US" sz="1300" kern="1200"/>
        </a:p>
      </dsp:txBody>
      <dsp:txXfrm>
        <a:off x="54944" y="2411125"/>
        <a:ext cx="4173096" cy="101565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52405E-855E-467C-9D6F-455E03C6B103}">
      <dsp:nvSpPr>
        <dsp:cNvPr id="0" name=""/>
        <dsp:cNvSpPr/>
      </dsp:nvSpPr>
      <dsp:spPr>
        <a:xfrm>
          <a:off x="0" y="2870"/>
          <a:ext cx="6301601"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9C03305-FD34-42BE-97A8-AB6D4255E3A5}">
      <dsp:nvSpPr>
        <dsp:cNvPr id="0" name=""/>
        <dsp:cNvSpPr/>
      </dsp:nvSpPr>
      <dsp:spPr>
        <a:xfrm>
          <a:off x="0" y="2870"/>
          <a:ext cx="6301601" cy="19576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b="1" i="0" kern="1200" baseline="0"/>
            <a:t>Loyalty-Driven Full Price Sales:</a:t>
          </a:r>
          <a:r>
            <a:rPr lang="en-US" sz="2100" b="0" i="0" kern="1200" baseline="0"/>
            <a:t> With 83.7% of sales being discounted, the brand risks being perceived as a "discount-only" destination. Implement a loyalty program that rewards full-price purchases with non-monetary perks (early access, exclusive content).</a:t>
          </a:r>
          <a:endParaRPr lang="en-US" sz="2100" kern="1200"/>
        </a:p>
      </dsp:txBody>
      <dsp:txXfrm>
        <a:off x="0" y="2870"/>
        <a:ext cx="6301601" cy="1957689"/>
      </dsp:txXfrm>
    </dsp:sp>
    <dsp:sp modelId="{A34683F8-2905-47C2-8EF9-B0BA67768B86}">
      <dsp:nvSpPr>
        <dsp:cNvPr id="0" name=""/>
        <dsp:cNvSpPr/>
      </dsp:nvSpPr>
      <dsp:spPr>
        <a:xfrm>
          <a:off x="0" y="1960559"/>
          <a:ext cx="6301601" cy="0"/>
        </a:xfrm>
        <a:prstGeom prst="line">
          <a:avLst/>
        </a:prstGeom>
        <a:solidFill>
          <a:schemeClr val="accent2">
            <a:hueOff val="3221807"/>
            <a:satOff val="-9246"/>
            <a:lumOff val="-14805"/>
            <a:alphaOff val="0"/>
          </a:schemeClr>
        </a:solidFill>
        <a:ln w="19050" cap="flat" cmpd="sng" algn="ctr">
          <a:solidFill>
            <a:schemeClr val="accent2">
              <a:hueOff val="3221807"/>
              <a:satOff val="-9246"/>
              <a:lumOff val="-1480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1496AF4-F7A1-44C7-83BE-8B2C7998EB73}">
      <dsp:nvSpPr>
        <dsp:cNvPr id="0" name=""/>
        <dsp:cNvSpPr/>
      </dsp:nvSpPr>
      <dsp:spPr>
        <a:xfrm>
          <a:off x="0" y="1960559"/>
          <a:ext cx="6301601" cy="19576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b="1" i="0" kern="1200" baseline="0"/>
            <a:t>Personalized Discounting:</a:t>
          </a:r>
          <a:r>
            <a:rPr lang="en-US" sz="2100" b="0" i="0" kern="1200" baseline="0"/>
            <a:t> Transition away from "flat" discount slabs across all categories. Use predictive modeling to identify which customers would have purchased at 5% or 10% instead of giving everyone the "default" high discounts.</a:t>
          </a:r>
          <a:endParaRPr lang="en-US" sz="2100" kern="1200"/>
        </a:p>
      </dsp:txBody>
      <dsp:txXfrm>
        <a:off x="0" y="1960559"/>
        <a:ext cx="6301601" cy="1957689"/>
      </dsp:txXfrm>
    </dsp:sp>
    <dsp:sp modelId="{F61CB84C-D7A0-46D7-9F31-CB2146374F63}">
      <dsp:nvSpPr>
        <dsp:cNvPr id="0" name=""/>
        <dsp:cNvSpPr/>
      </dsp:nvSpPr>
      <dsp:spPr>
        <a:xfrm>
          <a:off x="0" y="3918249"/>
          <a:ext cx="6301601" cy="0"/>
        </a:xfrm>
        <a:prstGeom prst="line">
          <a:avLst/>
        </a:prstGeom>
        <a:solidFill>
          <a:schemeClr val="accent2">
            <a:hueOff val="6443614"/>
            <a:satOff val="-18493"/>
            <a:lumOff val="-29609"/>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01A0260-997A-4D3B-8208-CCAA89C72C9A}">
      <dsp:nvSpPr>
        <dsp:cNvPr id="0" name=""/>
        <dsp:cNvSpPr/>
      </dsp:nvSpPr>
      <dsp:spPr>
        <a:xfrm>
          <a:off x="0" y="3918249"/>
          <a:ext cx="6301601" cy="19576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b="1" i="0" kern="1200" baseline="0"/>
            <a:t>Premium Category Expansion:</a:t>
          </a:r>
          <a:r>
            <a:rPr lang="en-US" sz="2100" b="0" i="0" kern="1200" baseline="0"/>
            <a:t> Focus on growing the </a:t>
          </a:r>
          <a:r>
            <a:rPr lang="en-US" sz="2100" b="1" i="0" kern="1200" baseline="0"/>
            <a:t>Home &amp; Kitchen and Sports</a:t>
          </a:r>
          <a:r>
            <a:rPr lang="en-US" sz="2100" b="0" i="0" kern="1200" baseline="0"/>
            <a:t> categories through value-based marketing rather than price-based marketing, as these currently show lower volume and higher potential for AOV growth.</a:t>
          </a:r>
          <a:endParaRPr lang="en-US" sz="2100" kern="1200"/>
        </a:p>
      </dsp:txBody>
      <dsp:txXfrm>
        <a:off x="0" y="3918249"/>
        <a:ext cx="6301601" cy="1957689"/>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73E4F-0C19-24B9-AE75-6ACC52FE19B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6F4F3452-D833-188B-D4DD-B14B2D37FEF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C8FE4333-6746-A78F-8515-EC26F28880F3}"/>
              </a:ext>
            </a:extLst>
          </p:cNvPr>
          <p:cNvSpPr>
            <a:spLocks noGrp="1"/>
          </p:cNvSpPr>
          <p:nvPr>
            <p:ph type="dt" sz="half" idx="10"/>
          </p:nvPr>
        </p:nvSpPr>
        <p:spPr/>
        <p:txBody>
          <a:bodyPr/>
          <a:lstStyle/>
          <a:p>
            <a:fld id="{314777B7-17A2-459D-B2B3-27B7330AB8B4}" type="datetimeFigureOut">
              <a:rPr lang="en-AU" smtClean="0"/>
              <a:t>8/03/2026</a:t>
            </a:fld>
            <a:endParaRPr lang="en-AU"/>
          </a:p>
        </p:txBody>
      </p:sp>
      <p:sp>
        <p:nvSpPr>
          <p:cNvPr id="5" name="Footer Placeholder 4">
            <a:extLst>
              <a:ext uri="{FF2B5EF4-FFF2-40B4-BE49-F238E27FC236}">
                <a16:creationId xmlns:a16="http://schemas.microsoft.com/office/drawing/2014/main" id="{E6FBB3EF-8D36-272B-9EA6-99C38AA20865}"/>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9753B476-ACE7-DF37-0C7E-D473A09410A3}"/>
              </a:ext>
            </a:extLst>
          </p:cNvPr>
          <p:cNvSpPr>
            <a:spLocks noGrp="1"/>
          </p:cNvSpPr>
          <p:nvPr>
            <p:ph type="sldNum" sz="quarter" idx="12"/>
          </p:nvPr>
        </p:nvSpPr>
        <p:spPr/>
        <p:txBody>
          <a:bodyPr/>
          <a:lstStyle/>
          <a:p>
            <a:fld id="{7C884122-A166-4698-8078-C6A3B7BEE113}" type="slidenum">
              <a:rPr lang="en-AU" smtClean="0"/>
              <a:t>‹#›</a:t>
            </a:fld>
            <a:endParaRPr lang="en-AU"/>
          </a:p>
        </p:txBody>
      </p:sp>
    </p:spTree>
    <p:extLst>
      <p:ext uri="{BB962C8B-B14F-4D97-AF65-F5344CB8AC3E}">
        <p14:creationId xmlns:p14="http://schemas.microsoft.com/office/powerpoint/2010/main" val="16504279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47F7C-59CF-0EA2-B2BB-7B6EFF5C61D3}"/>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203C6186-D9C3-9ACE-41C5-8F3C904E96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B008891F-4706-E6E1-5882-F738DE7B06C4}"/>
              </a:ext>
            </a:extLst>
          </p:cNvPr>
          <p:cNvSpPr>
            <a:spLocks noGrp="1"/>
          </p:cNvSpPr>
          <p:nvPr>
            <p:ph type="dt" sz="half" idx="10"/>
          </p:nvPr>
        </p:nvSpPr>
        <p:spPr/>
        <p:txBody>
          <a:bodyPr/>
          <a:lstStyle/>
          <a:p>
            <a:fld id="{314777B7-17A2-459D-B2B3-27B7330AB8B4}" type="datetimeFigureOut">
              <a:rPr lang="en-AU" smtClean="0"/>
              <a:t>8/03/2026</a:t>
            </a:fld>
            <a:endParaRPr lang="en-AU"/>
          </a:p>
        </p:txBody>
      </p:sp>
      <p:sp>
        <p:nvSpPr>
          <p:cNvPr id="5" name="Footer Placeholder 4">
            <a:extLst>
              <a:ext uri="{FF2B5EF4-FFF2-40B4-BE49-F238E27FC236}">
                <a16:creationId xmlns:a16="http://schemas.microsoft.com/office/drawing/2014/main" id="{3ACA6F6A-AB8E-B72F-543C-04E27F923D41}"/>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78A0AA2A-3182-5ED3-93EE-4374563DA0C9}"/>
              </a:ext>
            </a:extLst>
          </p:cNvPr>
          <p:cNvSpPr>
            <a:spLocks noGrp="1"/>
          </p:cNvSpPr>
          <p:nvPr>
            <p:ph type="sldNum" sz="quarter" idx="12"/>
          </p:nvPr>
        </p:nvSpPr>
        <p:spPr/>
        <p:txBody>
          <a:bodyPr/>
          <a:lstStyle/>
          <a:p>
            <a:fld id="{7C884122-A166-4698-8078-C6A3B7BEE113}" type="slidenum">
              <a:rPr lang="en-AU" smtClean="0"/>
              <a:t>‹#›</a:t>
            </a:fld>
            <a:endParaRPr lang="en-AU"/>
          </a:p>
        </p:txBody>
      </p:sp>
    </p:spTree>
    <p:extLst>
      <p:ext uri="{BB962C8B-B14F-4D97-AF65-F5344CB8AC3E}">
        <p14:creationId xmlns:p14="http://schemas.microsoft.com/office/powerpoint/2010/main" val="20148635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F0584-3C3A-DC62-FD7C-6BD75B1B899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046EFFEA-8B17-841D-F269-2B68D9FC62C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F9F6664-BED8-F6D7-A0EA-1C484C161704}"/>
              </a:ext>
            </a:extLst>
          </p:cNvPr>
          <p:cNvSpPr>
            <a:spLocks noGrp="1"/>
          </p:cNvSpPr>
          <p:nvPr>
            <p:ph type="dt" sz="half" idx="10"/>
          </p:nvPr>
        </p:nvSpPr>
        <p:spPr/>
        <p:txBody>
          <a:bodyPr/>
          <a:lstStyle/>
          <a:p>
            <a:fld id="{314777B7-17A2-459D-B2B3-27B7330AB8B4}" type="datetimeFigureOut">
              <a:rPr lang="en-AU" smtClean="0"/>
              <a:t>8/03/2026</a:t>
            </a:fld>
            <a:endParaRPr lang="en-AU"/>
          </a:p>
        </p:txBody>
      </p:sp>
      <p:sp>
        <p:nvSpPr>
          <p:cNvPr id="5" name="Footer Placeholder 4">
            <a:extLst>
              <a:ext uri="{FF2B5EF4-FFF2-40B4-BE49-F238E27FC236}">
                <a16:creationId xmlns:a16="http://schemas.microsoft.com/office/drawing/2014/main" id="{82EEFD2F-3BBD-C8BE-D26A-80C8C999F28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419D1CE-9FCD-65A1-E47F-2B9D19CB8FEA}"/>
              </a:ext>
            </a:extLst>
          </p:cNvPr>
          <p:cNvSpPr>
            <a:spLocks noGrp="1"/>
          </p:cNvSpPr>
          <p:nvPr>
            <p:ph type="sldNum" sz="quarter" idx="12"/>
          </p:nvPr>
        </p:nvSpPr>
        <p:spPr/>
        <p:txBody>
          <a:bodyPr/>
          <a:lstStyle/>
          <a:p>
            <a:fld id="{7C884122-A166-4698-8078-C6A3B7BEE113}" type="slidenum">
              <a:rPr lang="en-AU" smtClean="0"/>
              <a:t>‹#›</a:t>
            </a:fld>
            <a:endParaRPr lang="en-AU"/>
          </a:p>
        </p:txBody>
      </p:sp>
    </p:spTree>
    <p:extLst>
      <p:ext uri="{BB962C8B-B14F-4D97-AF65-F5344CB8AC3E}">
        <p14:creationId xmlns:p14="http://schemas.microsoft.com/office/powerpoint/2010/main" val="5295338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7594D-19C3-1439-F3A9-D55EF3E7F358}"/>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310E1859-A7BB-DB33-87F2-96EC304D841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9022DE5C-B955-7EFE-92C1-DCA71889117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308AAFCA-A1C7-4518-8D70-866B39B792C4}"/>
              </a:ext>
            </a:extLst>
          </p:cNvPr>
          <p:cNvSpPr>
            <a:spLocks noGrp="1"/>
          </p:cNvSpPr>
          <p:nvPr>
            <p:ph type="dt" sz="half" idx="10"/>
          </p:nvPr>
        </p:nvSpPr>
        <p:spPr/>
        <p:txBody>
          <a:bodyPr/>
          <a:lstStyle/>
          <a:p>
            <a:fld id="{314777B7-17A2-459D-B2B3-27B7330AB8B4}" type="datetimeFigureOut">
              <a:rPr lang="en-AU" smtClean="0"/>
              <a:t>8/03/2026</a:t>
            </a:fld>
            <a:endParaRPr lang="en-AU"/>
          </a:p>
        </p:txBody>
      </p:sp>
      <p:sp>
        <p:nvSpPr>
          <p:cNvPr id="6" name="Footer Placeholder 5">
            <a:extLst>
              <a:ext uri="{FF2B5EF4-FFF2-40B4-BE49-F238E27FC236}">
                <a16:creationId xmlns:a16="http://schemas.microsoft.com/office/drawing/2014/main" id="{41C0C8F7-C5D7-1949-7BE3-40E11A76C285}"/>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DB2A32D4-887A-A00F-87A1-E8F503401011}"/>
              </a:ext>
            </a:extLst>
          </p:cNvPr>
          <p:cNvSpPr>
            <a:spLocks noGrp="1"/>
          </p:cNvSpPr>
          <p:nvPr>
            <p:ph type="sldNum" sz="quarter" idx="12"/>
          </p:nvPr>
        </p:nvSpPr>
        <p:spPr/>
        <p:txBody>
          <a:bodyPr/>
          <a:lstStyle/>
          <a:p>
            <a:fld id="{7C884122-A166-4698-8078-C6A3B7BEE113}" type="slidenum">
              <a:rPr lang="en-AU" smtClean="0"/>
              <a:t>‹#›</a:t>
            </a:fld>
            <a:endParaRPr lang="en-AU"/>
          </a:p>
        </p:txBody>
      </p:sp>
    </p:spTree>
    <p:extLst>
      <p:ext uri="{BB962C8B-B14F-4D97-AF65-F5344CB8AC3E}">
        <p14:creationId xmlns:p14="http://schemas.microsoft.com/office/powerpoint/2010/main" val="28262375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7FBB7-4123-757B-E5DE-D8E9B80A2693}"/>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9FE44CBD-EE4A-F472-4D5A-41193719FEC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0351790-6116-6E40-DA6D-B2EBB93CAAD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70DBAE70-0675-5ADA-0878-F914E22793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F981F38-0EE2-AF9F-9325-C48230C2819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5FEAF0EF-CB88-6340-31C8-BE5FD98AEED4}"/>
              </a:ext>
            </a:extLst>
          </p:cNvPr>
          <p:cNvSpPr>
            <a:spLocks noGrp="1"/>
          </p:cNvSpPr>
          <p:nvPr>
            <p:ph type="dt" sz="half" idx="10"/>
          </p:nvPr>
        </p:nvSpPr>
        <p:spPr/>
        <p:txBody>
          <a:bodyPr/>
          <a:lstStyle/>
          <a:p>
            <a:fld id="{314777B7-17A2-459D-B2B3-27B7330AB8B4}" type="datetimeFigureOut">
              <a:rPr lang="en-AU" smtClean="0"/>
              <a:t>8/03/2026</a:t>
            </a:fld>
            <a:endParaRPr lang="en-AU"/>
          </a:p>
        </p:txBody>
      </p:sp>
      <p:sp>
        <p:nvSpPr>
          <p:cNvPr id="8" name="Footer Placeholder 7">
            <a:extLst>
              <a:ext uri="{FF2B5EF4-FFF2-40B4-BE49-F238E27FC236}">
                <a16:creationId xmlns:a16="http://schemas.microsoft.com/office/drawing/2014/main" id="{E79F22D3-170C-DCFF-C1AD-BAB1308771BE}"/>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06882A65-D116-A01C-E4F3-ECF7E4618EE9}"/>
              </a:ext>
            </a:extLst>
          </p:cNvPr>
          <p:cNvSpPr>
            <a:spLocks noGrp="1"/>
          </p:cNvSpPr>
          <p:nvPr>
            <p:ph type="sldNum" sz="quarter" idx="12"/>
          </p:nvPr>
        </p:nvSpPr>
        <p:spPr/>
        <p:txBody>
          <a:bodyPr/>
          <a:lstStyle/>
          <a:p>
            <a:fld id="{7C884122-A166-4698-8078-C6A3B7BEE113}" type="slidenum">
              <a:rPr lang="en-AU" smtClean="0"/>
              <a:t>‹#›</a:t>
            </a:fld>
            <a:endParaRPr lang="en-AU"/>
          </a:p>
        </p:txBody>
      </p:sp>
    </p:spTree>
    <p:extLst>
      <p:ext uri="{BB962C8B-B14F-4D97-AF65-F5344CB8AC3E}">
        <p14:creationId xmlns:p14="http://schemas.microsoft.com/office/powerpoint/2010/main" val="42198978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7A62B-12F7-101F-CBA7-2F709E4D9639}"/>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B7A8BC79-F36F-234E-3897-77915CEA2B2B}"/>
              </a:ext>
            </a:extLst>
          </p:cNvPr>
          <p:cNvSpPr>
            <a:spLocks noGrp="1"/>
          </p:cNvSpPr>
          <p:nvPr>
            <p:ph type="dt" sz="half" idx="10"/>
          </p:nvPr>
        </p:nvSpPr>
        <p:spPr/>
        <p:txBody>
          <a:bodyPr/>
          <a:lstStyle/>
          <a:p>
            <a:fld id="{314777B7-17A2-459D-B2B3-27B7330AB8B4}" type="datetimeFigureOut">
              <a:rPr lang="en-AU" smtClean="0"/>
              <a:t>8/03/2026</a:t>
            </a:fld>
            <a:endParaRPr lang="en-AU"/>
          </a:p>
        </p:txBody>
      </p:sp>
      <p:sp>
        <p:nvSpPr>
          <p:cNvPr id="4" name="Footer Placeholder 3">
            <a:extLst>
              <a:ext uri="{FF2B5EF4-FFF2-40B4-BE49-F238E27FC236}">
                <a16:creationId xmlns:a16="http://schemas.microsoft.com/office/drawing/2014/main" id="{C1D22F03-E337-B334-F484-AC1A56842F56}"/>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10859869-7436-350C-5589-0860FD062C4B}"/>
              </a:ext>
            </a:extLst>
          </p:cNvPr>
          <p:cNvSpPr>
            <a:spLocks noGrp="1"/>
          </p:cNvSpPr>
          <p:nvPr>
            <p:ph type="sldNum" sz="quarter" idx="12"/>
          </p:nvPr>
        </p:nvSpPr>
        <p:spPr/>
        <p:txBody>
          <a:bodyPr/>
          <a:lstStyle/>
          <a:p>
            <a:fld id="{7C884122-A166-4698-8078-C6A3B7BEE113}" type="slidenum">
              <a:rPr lang="en-AU" smtClean="0"/>
              <a:t>‹#›</a:t>
            </a:fld>
            <a:endParaRPr lang="en-AU"/>
          </a:p>
        </p:txBody>
      </p:sp>
    </p:spTree>
    <p:extLst>
      <p:ext uri="{BB962C8B-B14F-4D97-AF65-F5344CB8AC3E}">
        <p14:creationId xmlns:p14="http://schemas.microsoft.com/office/powerpoint/2010/main" val="4783637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0854DA-7DB0-2A3D-8C0F-050E94F90046}"/>
              </a:ext>
            </a:extLst>
          </p:cNvPr>
          <p:cNvSpPr>
            <a:spLocks noGrp="1"/>
          </p:cNvSpPr>
          <p:nvPr>
            <p:ph type="dt" sz="half" idx="10"/>
          </p:nvPr>
        </p:nvSpPr>
        <p:spPr/>
        <p:txBody>
          <a:bodyPr/>
          <a:lstStyle/>
          <a:p>
            <a:fld id="{314777B7-17A2-459D-B2B3-27B7330AB8B4}" type="datetimeFigureOut">
              <a:rPr lang="en-AU" smtClean="0"/>
              <a:t>8/03/2026</a:t>
            </a:fld>
            <a:endParaRPr lang="en-AU"/>
          </a:p>
        </p:txBody>
      </p:sp>
      <p:sp>
        <p:nvSpPr>
          <p:cNvPr id="3" name="Footer Placeholder 2">
            <a:extLst>
              <a:ext uri="{FF2B5EF4-FFF2-40B4-BE49-F238E27FC236}">
                <a16:creationId xmlns:a16="http://schemas.microsoft.com/office/drawing/2014/main" id="{F859E745-5E0A-8CCB-7427-8B9DF5DAF4E3}"/>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57A96C22-F0B2-B15F-FABF-EBCD96576A0F}"/>
              </a:ext>
            </a:extLst>
          </p:cNvPr>
          <p:cNvSpPr>
            <a:spLocks noGrp="1"/>
          </p:cNvSpPr>
          <p:nvPr>
            <p:ph type="sldNum" sz="quarter" idx="12"/>
          </p:nvPr>
        </p:nvSpPr>
        <p:spPr/>
        <p:txBody>
          <a:bodyPr/>
          <a:lstStyle/>
          <a:p>
            <a:fld id="{7C884122-A166-4698-8078-C6A3B7BEE113}" type="slidenum">
              <a:rPr lang="en-AU" smtClean="0"/>
              <a:t>‹#›</a:t>
            </a:fld>
            <a:endParaRPr lang="en-AU"/>
          </a:p>
        </p:txBody>
      </p:sp>
    </p:spTree>
    <p:extLst>
      <p:ext uri="{BB962C8B-B14F-4D97-AF65-F5344CB8AC3E}">
        <p14:creationId xmlns:p14="http://schemas.microsoft.com/office/powerpoint/2010/main" val="2480923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1AF44-3288-6097-7739-759F41E9BA7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84F913CC-8BC6-3C3E-822D-84242433B0B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21EECB38-C4B8-C74A-F99B-5474521B0C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A57FF5-A3E3-A083-3D93-52DE1B43A007}"/>
              </a:ext>
            </a:extLst>
          </p:cNvPr>
          <p:cNvSpPr>
            <a:spLocks noGrp="1"/>
          </p:cNvSpPr>
          <p:nvPr>
            <p:ph type="dt" sz="half" idx="10"/>
          </p:nvPr>
        </p:nvSpPr>
        <p:spPr/>
        <p:txBody>
          <a:bodyPr/>
          <a:lstStyle/>
          <a:p>
            <a:fld id="{314777B7-17A2-459D-B2B3-27B7330AB8B4}" type="datetimeFigureOut">
              <a:rPr lang="en-AU" smtClean="0"/>
              <a:t>8/03/2026</a:t>
            </a:fld>
            <a:endParaRPr lang="en-AU"/>
          </a:p>
        </p:txBody>
      </p:sp>
      <p:sp>
        <p:nvSpPr>
          <p:cNvPr id="6" name="Footer Placeholder 5">
            <a:extLst>
              <a:ext uri="{FF2B5EF4-FFF2-40B4-BE49-F238E27FC236}">
                <a16:creationId xmlns:a16="http://schemas.microsoft.com/office/drawing/2014/main" id="{F512BA32-C6EA-4984-E5E4-4BDEC96FEE38}"/>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78F70D2A-9294-8AEF-AB4D-A48843B1CF2D}"/>
              </a:ext>
            </a:extLst>
          </p:cNvPr>
          <p:cNvSpPr>
            <a:spLocks noGrp="1"/>
          </p:cNvSpPr>
          <p:nvPr>
            <p:ph type="sldNum" sz="quarter" idx="12"/>
          </p:nvPr>
        </p:nvSpPr>
        <p:spPr/>
        <p:txBody>
          <a:bodyPr/>
          <a:lstStyle/>
          <a:p>
            <a:fld id="{7C884122-A166-4698-8078-C6A3B7BEE113}" type="slidenum">
              <a:rPr lang="en-AU" smtClean="0"/>
              <a:t>‹#›</a:t>
            </a:fld>
            <a:endParaRPr lang="en-AU"/>
          </a:p>
        </p:txBody>
      </p:sp>
    </p:spTree>
    <p:extLst>
      <p:ext uri="{BB962C8B-B14F-4D97-AF65-F5344CB8AC3E}">
        <p14:creationId xmlns:p14="http://schemas.microsoft.com/office/powerpoint/2010/main" val="8756662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775FA-82AC-136A-2748-9A10A1D991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9C8C2943-BBEC-117A-92DE-6A26D47871E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7724EAF4-7B87-50DA-AE2F-EB86C9ECFD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91411D-669B-2302-0B5F-0D1A5CC974AB}"/>
              </a:ext>
            </a:extLst>
          </p:cNvPr>
          <p:cNvSpPr>
            <a:spLocks noGrp="1"/>
          </p:cNvSpPr>
          <p:nvPr>
            <p:ph type="dt" sz="half" idx="10"/>
          </p:nvPr>
        </p:nvSpPr>
        <p:spPr/>
        <p:txBody>
          <a:bodyPr/>
          <a:lstStyle/>
          <a:p>
            <a:fld id="{314777B7-17A2-459D-B2B3-27B7330AB8B4}" type="datetimeFigureOut">
              <a:rPr lang="en-AU" smtClean="0"/>
              <a:t>8/03/2026</a:t>
            </a:fld>
            <a:endParaRPr lang="en-AU"/>
          </a:p>
        </p:txBody>
      </p:sp>
      <p:sp>
        <p:nvSpPr>
          <p:cNvPr id="6" name="Footer Placeholder 5">
            <a:extLst>
              <a:ext uri="{FF2B5EF4-FFF2-40B4-BE49-F238E27FC236}">
                <a16:creationId xmlns:a16="http://schemas.microsoft.com/office/drawing/2014/main" id="{BFCE4F63-EE2F-1F68-F1BE-C7517A92B107}"/>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E17E375A-FC7B-0EE4-8F96-2272E13CD121}"/>
              </a:ext>
            </a:extLst>
          </p:cNvPr>
          <p:cNvSpPr>
            <a:spLocks noGrp="1"/>
          </p:cNvSpPr>
          <p:nvPr>
            <p:ph type="sldNum" sz="quarter" idx="12"/>
          </p:nvPr>
        </p:nvSpPr>
        <p:spPr/>
        <p:txBody>
          <a:bodyPr/>
          <a:lstStyle/>
          <a:p>
            <a:fld id="{7C884122-A166-4698-8078-C6A3B7BEE113}" type="slidenum">
              <a:rPr lang="en-AU" smtClean="0"/>
              <a:t>‹#›</a:t>
            </a:fld>
            <a:endParaRPr lang="en-AU"/>
          </a:p>
        </p:txBody>
      </p:sp>
    </p:spTree>
    <p:extLst>
      <p:ext uri="{BB962C8B-B14F-4D97-AF65-F5344CB8AC3E}">
        <p14:creationId xmlns:p14="http://schemas.microsoft.com/office/powerpoint/2010/main" val="29317772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5D905-8CE5-6A2F-9004-0CBD5A7F1EDA}"/>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1D4515A9-5014-74A2-0473-78005BADF45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ED8872B3-EB9B-E00A-8C98-6EE66661E278}"/>
              </a:ext>
            </a:extLst>
          </p:cNvPr>
          <p:cNvSpPr>
            <a:spLocks noGrp="1"/>
          </p:cNvSpPr>
          <p:nvPr>
            <p:ph type="dt" sz="half" idx="10"/>
          </p:nvPr>
        </p:nvSpPr>
        <p:spPr/>
        <p:txBody>
          <a:bodyPr/>
          <a:lstStyle/>
          <a:p>
            <a:fld id="{314777B7-17A2-459D-B2B3-27B7330AB8B4}" type="datetimeFigureOut">
              <a:rPr lang="en-AU" smtClean="0"/>
              <a:t>8/03/2026</a:t>
            </a:fld>
            <a:endParaRPr lang="en-AU"/>
          </a:p>
        </p:txBody>
      </p:sp>
      <p:sp>
        <p:nvSpPr>
          <p:cNvPr id="5" name="Footer Placeholder 4">
            <a:extLst>
              <a:ext uri="{FF2B5EF4-FFF2-40B4-BE49-F238E27FC236}">
                <a16:creationId xmlns:a16="http://schemas.microsoft.com/office/drawing/2014/main" id="{8B375E61-7B01-B11B-8FD2-1D3963A6BCDE}"/>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FE637AF-A4A1-319C-4124-CB9F8F5E38DD}"/>
              </a:ext>
            </a:extLst>
          </p:cNvPr>
          <p:cNvSpPr>
            <a:spLocks noGrp="1"/>
          </p:cNvSpPr>
          <p:nvPr>
            <p:ph type="sldNum" sz="quarter" idx="12"/>
          </p:nvPr>
        </p:nvSpPr>
        <p:spPr/>
        <p:txBody>
          <a:bodyPr/>
          <a:lstStyle/>
          <a:p>
            <a:fld id="{7C884122-A166-4698-8078-C6A3B7BEE113}" type="slidenum">
              <a:rPr lang="en-AU" smtClean="0"/>
              <a:t>‹#›</a:t>
            </a:fld>
            <a:endParaRPr lang="en-AU"/>
          </a:p>
        </p:txBody>
      </p:sp>
    </p:spTree>
    <p:extLst>
      <p:ext uri="{BB962C8B-B14F-4D97-AF65-F5344CB8AC3E}">
        <p14:creationId xmlns:p14="http://schemas.microsoft.com/office/powerpoint/2010/main" val="19639203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ED31401-D2F7-1B41-40CD-A4B2C75397F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60A730BD-7094-335E-E20E-6D149829574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34EFD3C5-54A0-D891-04D6-8EB20C8C738B}"/>
              </a:ext>
            </a:extLst>
          </p:cNvPr>
          <p:cNvSpPr>
            <a:spLocks noGrp="1"/>
          </p:cNvSpPr>
          <p:nvPr>
            <p:ph type="dt" sz="half" idx="10"/>
          </p:nvPr>
        </p:nvSpPr>
        <p:spPr/>
        <p:txBody>
          <a:bodyPr/>
          <a:lstStyle/>
          <a:p>
            <a:fld id="{314777B7-17A2-459D-B2B3-27B7330AB8B4}" type="datetimeFigureOut">
              <a:rPr lang="en-AU" smtClean="0"/>
              <a:t>8/03/2026</a:t>
            </a:fld>
            <a:endParaRPr lang="en-AU"/>
          </a:p>
        </p:txBody>
      </p:sp>
      <p:sp>
        <p:nvSpPr>
          <p:cNvPr id="5" name="Footer Placeholder 4">
            <a:extLst>
              <a:ext uri="{FF2B5EF4-FFF2-40B4-BE49-F238E27FC236}">
                <a16:creationId xmlns:a16="http://schemas.microsoft.com/office/drawing/2014/main" id="{087E03BE-957B-3CAB-6349-22D8014CD700}"/>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67BA83A7-2645-7CC6-FEBC-86E7260770B2}"/>
              </a:ext>
            </a:extLst>
          </p:cNvPr>
          <p:cNvSpPr>
            <a:spLocks noGrp="1"/>
          </p:cNvSpPr>
          <p:nvPr>
            <p:ph type="sldNum" sz="quarter" idx="12"/>
          </p:nvPr>
        </p:nvSpPr>
        <p:spPr/>
        <p:txBody>
          <a:bodyPr/>
          <a:lstStyle/>
          <a:p>
            <a:fld id="{7C884122-A166-4698-8078-C6A3B7BEE113}" type="slidenum">
              <a:rPr lang="en-AU" smtClean="0"/>
              <a:t>‹#›</a:t>
            </a:fld>
            <a:endParaRPr lang="en-AU"/>
          </a:p>
        </p:txBody>
      </p:sp>
    </p:spTree>
    <p:extLst>
      <p:ext uri="{BB962C8B-B14F-4D97-AF65-F5344CB8AC3E}">
        <p14:creationId xmlns:p14="http://schemas.microsoft.com/office/powerpoint/2010/main" val="40718391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5582A2B-D4B3-4CAA-43D7-7E8F2BBE634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D3701D4D-978D-9306-38EF-10DBE012D17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DAE45E6E-B3DA-DCC9-1ED2-A62268F82D7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14777B7-17A2-459D-B2B3-27B7330AB8B4}" type="datetimeFigureOut">
              <a:rPr lang="en-AU" smtClean="0"/>
              <a:t>8/03/2026</a:t>
            </a:fld>
            <a:endParaRPr lang="en-AU"/>
          </a:p>
        </p:txBody>
      </p:sp>
      <p:sp>
        <p:nvSpPr>
          <p:cNvPr id="5" name="Footer Placeholder 4">
            <a:extLst>
              <a:ext uri="{FF2B5EF4-FFF2-40B4-BE49-F238E27FC236}">
                <a16:creationId xmlns:a16="http://schemas.microsoft.com/office/drawing/2014/main" id="{E1799CE2-D872-C24E-FD08-7096F38BE6E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14CB1A00-7110-46F5-EE19-0FCE0C8B25A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C884122-A166-4698-8078-C6A3B7BEE113}" type="slidenum">
              <a:rPr lang="en-AU" smtClean="0"/>
              <a:t>‹#›</a:t>
            </a:fld>
            <a:endParaRPr lang="en-AU"/>
          </a:p>
        </p:txBody>
      </p:sp>
    </p:spTree>
    <p:extLst>
      <p:ext uri="{BB962C8B-B14F-4D97-AF65-F5344CB8AC3E}">
        <p14:creationId xmlns:p14="http://schemas.microsoft.com/office/powerpoint/2010/main" val="28008050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6.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31.png"/><Relationship Id="rId7" Type="http://schemas.openxmlformats.org/officeDocument/2006/relationships/diagramColors" Target="../diagrams/colors5.xml"/><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38.png"/><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89B7BFD-8F45-4093-AD9C-91B15B0503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 name="Group 9">
            <a:extLst>
              <a:ext uri="{FF2B5EF4-FFF2-40B4-BE49-F238E27FC236}">
                <a16:creationId xmlns:a16="http://schemas.microsoft.com/office/drawing/2014/main" id="{042BC7E5-76DB-4826-8C07-4A49B6353F7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479558"/>
            <a:ext cx="1861854" cy="717514"/>
            <a:chOff x="0" y="1479558"/>
            <a:chExt cx="1861854" cy="717514"/>
          </a:xfrm>
          <a:solidFill>
            <a:schemeClr val="bg1"/>
          </a:solidFill>
        </p:grpSpPr>
        <p:sp>
          <p:nvSpPr>
            <p:cNvPr id="11" name="Freeform: Shape 10">
              <a:extLst>
                <a:ext uri="{FF2B5EF4-FFF2-40B4-BE49-F238E27FC236}">
                  <a16:creationId xmlns:a16="http://schemas.microsoft.com/office/drawing/2014/main" id="{E16C8D8F-10E9-4498-ABDB-0F923F8B68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47955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a:p>
          </p:txBody>
        </p:sp>
        <p:sp>
          <p:nvSpPr>
            <p:cNvPr id="12" name="Freeform: Shape 11">
              <a:extLst>
                <a:ext uri="{FF2B5EF4-FFF2-40B4-BE49-F238E27FC236}">
                  <a16:creationId xmlns:a16="http://schemas.microsoft.com/office/drawing/2014/main" id="{1E5A83E3-8A11-4492-BB6E-F5F2240316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9192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a:p>
          </p:txBody>
        </p:sp>
      </p:grpSp>
      <p:sp>
        <p:nvSpPr>
          <p:cNvPr id="14" name="Freeform: Shape 13">
            <a:extLst>
              <a:ext uri="{FF2B5EF4-FFF2-40B4-BE49-F238E27FC236}">
                <a16:creationId xmlns:a16="http://schemas.microsoft.com/office/drawing/2014/main" id="{498F8FF6-43B4-494A-AF8F-123A4983ED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018992" y="-34538"/>
            <a:ext cx="6655405" cy="6335470"/>
          </a:xfrm>
          <a:custGeom>
            <a:avLst/>
            <a:gdLst>
              <a:gd name="connsiteX0" fmla="*/ 1825048 w 6355652"/>
              <a:gd name="connsiteY0" fmla="*/ 0 h 6050127"/>
              <a:gd name="connsiteX1" fmla="*/ 4530604 w 6355652"/>
              <a:gd name="connsiteY1" fmla="*/ 0 h 6050127"/>
              <a:gd name="connsiteX2" fmla="*/ 4692567 w 6355652"/>
              <a:gd name="connsiteY2" fmla="*/ 78022 h 6050127"/>
              <a:gd name="connsiteX3" fmla="*/ 6355652 w 6355652"/>
              <a:gd name="connsiteY3" fmla="*/ 2872301 h 6050127"/>
              <a:gd name="connsiteX4" fmla="*/ 3177826 w 6355652"/>
              <a:gd name="connsiteY4" fmla="*/ 6050127 h 6050127"/>
              <a:gd name="connsiteX5" fmla="*/ 0 w 6355652"/>
              <a:gd name="connsiteY5" fmla="*/ 2872301 h 6050127"/>
              <a:gd name="connsiteX6" fmla="*/ 1663086 w 6355652"/>
              <a:gd name="connsiteY6" fmla="*/ 78022 h 605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5652" h="6050127">
                <a:moveTo>
                  <a:pt x="1825048" y="0"/>
                </a:moveTo>
                <a:lnTo>
                  <a:pt x="4530604" y="0"/>
                </a:lnTo>
                <a:lnTo>
                  <a:pt x="4692567" y="78022"/>
                </a:lnTo>
                <a:cubicBezTo>
                  <a:pt x="5683175" y="616152"/>
                  <a:pt x="6355652" y="1665694"/>
                  <a:pt x="6355652" y="2872301"/>
                </a:cubicBezTo>
                <a:cubicBezTo>
                  <a:pt x="6355652" y="4627366"/>
                  <a:pt x="4932891" y="6050127"/>
                  <a:pt x="3177826" y="6050127"/>
                </a:cubicBezTo>
                <a:cubicBezTo>
                  <a:pt x="1422761" y="6050127"/>
                  <a:pt x="0" y="4627366"/>
                  <a:pt x="0" y="2872301"/>
                </a:cubicBezTo>
                <a:cubicBezTo>
                  <a:pt x="0" y="1665694"/>
                  <a:pt x="672477" y="616152"/>
                  <a:pt x="1663086" y="78022"/>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B06059C-C357-4011-82B9-9C01063013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55194" y="-23905"/>
            <a:ext cx="6705251" cy="6318526"/>
          </a:xfrm>
          <a:custGeom>
            <a:avLst/>
            <a:gdLst>
              <a:gd name="connsiteX0" fmla="*/ 1825048 w 6355652"/>
              <a:gd name="connsiteY0" fmla="*/ 0 h 6050127"/>
              <a:gd name="connsiteX1" fmla="*/ 4530604 w 6355652"/>
              <a:gd name="connsiteY1" fmla="*/ 0 h 6050127"/>
              <a:gd name="connsiteX2" fmla="*/ 4692567 w 6355652"/>
              <a:gd name="connsiteY2" fmla="*/ 78022 h 6050127"/>
              <a:gd name="connsiteX3" fmla="*/ 6355652 w 6355652"/>
              <a:gd name="connsiteY3" fmla="*/ 2872301 h 6050127"/>
              <a:gd name="connsiteX4" fmla="*/ 3177826 w 6355652"/>
              <a:gd name="connsiteY4" fmla="*/ 6050127 h 6050127"/>
              <a:gd name="connsiteX5" fmla="*/ 0 w 6355652"/>
              <a:gd name="connsiteY5" fmla="*/ 2872301 h 6050127"/>
              <a:gd name="connsiteX6" fmla="*/ 1663086 w 6355652"/>
              <a:gd name="connsiteY6" fmla="*/ 78022 h 605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5652" h="6050127">
                <a:moveTo>
                  <a:pt x="1825048" y="0"/>
                </a:moveTo>
                <a:lnTo>
                  <a:pt x="4530604" y="0"/>
                </a:lnTo>
                <a:lnTo>
                  <a:pt x="4692567" y="78022"/>
                </a:lnTo>
                <a:cubicBezTo>
                  <a:pt x="5683175" y="616152"/>
                  <a:pt x="6355652" y="1665694"/>
                  <a:pt x="6355652" y="2872301"/>
                </a:cubicBezTo>
                <a:cubicBezTo>
                  <a:pt x="6355652" y="4627366"/>
                  <a:pt x="4932891" y="6050127"/>
                  <a:pt x="3177826" y="6050127"/>
                </a:cubicBezTo>
                <a:cubicBezTo>
                  <a:pt x="1422761" y="6050127"/>
                  <a:pt x="0" y="4627366"/>
                  <a:pt x="0" y="2872301"/>
                </a:cubicBezTo>
                <a:cubicBezTo>
                  <a:pt x="0" y="1665694"/>
                  <a:pt x="672477" y="616152"/>
                  <a:pt x="1663086" y="78022"/>
                </a:cubicBezTo>
                <a:close/>
              </a:path>
            </a:pathLst>
          </a:cu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5AFEC601-A132-47EE-B0C2-B38ACD9FCE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86886" y="-23905"/>
            <a:ext cx="6705251" cy="6215019"/>
          </a:xfrm>
          <a:custGeom>
            <a:avLst/>
            <a:gdLst>
              <a:gd name="connsiteX0" fmla="*/ 1529549 w 6355652"/>
              <a:gd name="connsiteY0" fmla="*/ 0 h 5890980"/>
              <a:gd name="connsiteX1" fmla="*/ 4826104 w 6355652"/>
              <a:gd name="connsiteY1" fmla="*/ 0 h 5890980"/>
              <a:gd name="connsiteX2" fmla="*/ 4954579 w 6355652"/>
              <a:gd name="connsiteY2" fmla="*/ 78051 h 5890980"/>
              <a:gd name="connsiteX3" fmla="*/ 6355652 w 6355652"/>
              <a:gd name="connsiteY3" fmla="*/ 2713154 h 5890980"/>
              <a:gd name="connsiteX4" fmla="*/ 3177826 w 6355652"/>
              <a:gd name="connsiteY4" fmla="*/ 5890980 h 5890980"/>
              <a:gd name="connsiteX5" fmla="*/ 0 w 6355652"/>
              <a:gd name="connsiteY5" fmla="*/ 2713154 h 5890980"/>
              <a:gd name="connsiteX6" fmla="*/ 1401073 w 6355652"/>
              <a:gd name="connsiteY6" fmla="*/ 78051 h 5890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5652" h="5890980">
                <a:moveTo>
                  <a:pt x="1529549" y="0"/>
                </a:moveTo>
                <a:lnTo>
                  <a:pt x="4826104" y="0"/>
                </a:lnTo>
                <a:lnTo>
                  <a:pt x="4954579" y="78051"/>
                </a:lnTo>
                <a:cubicBezTo>
                  <a:pt x="5799886" y="649129"/>
                  <a:pt x="6355652" y="1616239"/>
                  <a:pt x="6355652" y="2713154"/>
                </a:cubicBezTo>
                <a:cubicBezTo>
                  <a:pt x="6355652" y="4468219"/>
                  <a:pt x="4932891" y="5890980"/>
                  <a:pt x="3177826" y="5890980"/>
                </a:cubicBezTo>
                <a:cubicBezTo>
                  <a:pt x="1422761" y="5890980"/>
                  <a:pt x="0" y="4468219"/>
                  <a:pt x="0" y="2713154"/>
                </a:cubicBezTo>
                <a:cubicBezTo>
                  <a:pt x="0" y="1616239"/>
                  <a:pt x="555766" y="649129"/>
                  <a:pt x="1401073" y="78051"/>
                </a:cubicBezTo>
                <a:close/>
              </a:path>
            </a:pathLst>
          </a:cu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18AF52B-D8FD-CAFD-2263-A3FB14091202}"/>
              </a:ext>
            </a:extLst>
          </p:cNvPr>
          <p:cNvSpPr>
            <a:spLocks noGrp="1"/>
          </p:cNvSpPr>
          <p:nvPr>
            <p:ph type="ctrTitle"/>
          </p:nvPr>
        </p:nvSpPr>
        <p:spPr>
          <a:xfrm>
            <a:off x="2242409" y="895483"/>
            <a:ext cx="5786232" cy="3011190"/>
          </a:xfrm>
        </p:spPr>
        <p:txBody>
          <a:bodyPr>
            <a:normAutofit/>
          </a:bodyPr>
          <a:lstStyle/>
          <a:p>
            <a:r>
              <a:rPr lang="en-AU" sz="5400">
                <a:solidFill>
                  <a:schemeClr val="bg1"/>
                </a:solidFill>
              </a:rPr>
              <a:t>Amazon</a:t>
            </a:r>
          </a:p>
        </p:txBody>
      </p:sp>
      <p:sp>
        <p:nvSpPr>
          <p:cNvPr id="3" name="Subtitle 2">
            <a:extLst>
              <a:ext uri="{FF2B5EF4-FFF2-40B4-BE49-F238E27FC236}">
                <a16:creationId xmlns:a16="http://schemas.microsoft.com/office/drawing/2014/main" id="{D760C58E-9552-DA26-86CE-D58CAAB9437D}"/>
              </a:ext>
            </a:extLst>
          </p:cNvPr>
          <p:cNvSpPr>
            <a:spLocks noGrp="1"/>
          </p:cNvSpPr>
          <p:nvPr>
            <p:ph type="subTitle" idx="1"/>
          </p:nvPr>
        </p:nvSpPr>
        <p:spPr>
          <a:xfrm>
            <a:off x="2466270" y="4142096"/>
            <a:ext cx="5338511" cy="1055142"/>
          </a:xfrm>
        </p:spPr>
        <p:txBody>
          <a:bodyPr>
            <a:normAutofit/>
          </a:bodyPr>
          <a:lstStyle/>
          <a:p>
            <a:r>
              <a:rPr lang="en-AU" sz="2000">
                <a:solidFill>
                  <a:schemeClr val="bg1"/>
                </a:solidFill>
              </a:rPr>
              <a:t>Discount Analysis</a:t>
            </a:r>
          </a:p>
          <a:p>
            <a:endParaRPr lang="en-AU" sz="2000">
              <a:solidFill>
                <a:schemeClr val="bg1"/>
              </a:solidFill>
            </a:endParaRPr>
          </a:p>
        </p:txBody>
      </p:sp>
      <p:sp>
        <p:nvSpPr>
          <p:cNvPr id="20" name="Graphic 212">
            <a:extLst>
              <a:ext uri="{FF2B5EF4-FFF2-40B4-BE49-F238E27FC236}">
                <a16:creationId xmlns:a16="http://schemas.microsoft.com/office/drawing/2014/main" id="{279CAF82-0ECF-42BE-8F37-F71941E5D4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34716" y="188494"/>
            <a:ext cx="1048371" cy="1048371"/>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2" name="Graphic 212">
            <a:extLst>
              <a:ext uri="{FF2B5EF4-FFF2-40B4-BE49-F238E27FC236}">
                <a16:creationId xmlns:a16="http://schemas.microsoft.com/office/drawing/2014/main" id="{218E095B-4870-4AD5-9C41-C16D595235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34716" y="188494"/>
            <a:ext cx="1048371" cy="1048371"/>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nvGrpSpPr>
          <p:cNvPr id="24" name="Graphic 185">
            <a:extLst>
              <a:ext uri="{FF2B5EF4-FFF2-40B4-BE49-F238E27FC236}">
                <a16:creationId xmlns:a16="http://schemas.microsoft.com/office/drawing/2014/main" id="{FB9739EB-7F66-433D-841F-AB3CD18700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583101" y="3578317"/>
            <a:ext cx="1054466" cy="469689"/>
            <a:chOff x="9841624" y="4115729"/>
            <a:chExt cx="602169" cy="268223"/>
          </a:xfrm>
          <a:solidFill>
            <a:schemeClr val="bg1"/>
          </a:solidFill>
        </p:grpSpPr>
        <p:sp>
          <p:nvSpPr>
            <p:cNvPr id="25" name="Freeform: Shape 24">
              <a:extLst>
                <a:ext uri="{FF2B5EF4-FFF2-40B4-BE49-F238E27FC236}">
                  <a16:creationId xmlns:a16="http://schemas.microsoft.com/office/drawing/2014/main" id="{104F2BBD-A005-4DCB-9566-F2351050BE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8B00DEC7-198B-49D1-98FD-018F3ECFCF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F14DFC82-B3B3-468E-91B3-1302CFC684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D3250EFE-214E-4B8E-AF96-036A514FFB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AD058EBE-D4A5-4C43-B170-6A451F87A7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31" name="Oval 30">
            <a:extLst>
              <a:ext uri="{FF2B5EF4-FFF2-40B4-BE49-F238E27FC236}">
                <a16:creationId xmlns:a16="http://schemas.microsoft.com/office/drawing/2014/main" id="{033BC44A-0661-43B4-9C14-FD5963C226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4525" y="4910353"/>
            <a:ext cx="468090" cy="468090"/>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3" name="Oval 32">
            <a:extLst>
              <a:ext uri="{FF2B5EF4-FFF2-40B4-BE49-F238E27FC236}">
                <a16:creationId xmlns:a16="http://schemas.microsoft.com/office/drawing/2014/main" id="{BE8CB2F0-2F5A-4EBD-B214-E0309C31F5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4525" y="4910353"/>
            <a:ext cx="468090" cy="468090"/>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5" name="Freeform: Shape 34">
            <a:extLst>
              <a:ext uri="{FF2B5EF4-FFF2-40B4-BE49-F238E27FC236}">
                <a16:creationId xmlns:a16="http://schemas.microsoft.com/office/drawing/2014/main" id="{FFD3887D-244B-4EC4-9208-E304984C5D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422467" y="4200769"/>
            <a:ext cx="2769534" cy="2657232"/>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37" name="Freeform: Shape 36">
            <a:extLst>
              <a:ext uri="{FF2B5EF4-FFF2-40B4-BE49-F238E27FC236}">
                <a16:creationId xmlns:a16="http://schemas.microsoft.com/office/drawing/2014/main" id="{97224C31-855E-4593-8A58-5B2B0CC4F5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422467" y="4200769"/>
            <a:ext cx="2769534" cy="2657232"/>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2">
              <a:alpha val="3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Tree>
    <p:extLst>
      <p:ext uri="{BB962C8B-B14F-4D97-AF65-F5344CB8AC3E}">
        <p14:creationId xmlns:p14="http://schemas.microsoft.com/office/powerpoint/2010/main" val="35604427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44AD29B6-BF3B-4407-9E75-52DF8E3B2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1" name="Rectangle 40">
            <a:extLst>
              <a:ext uri="{FF2B5EF4-FFF2-40B4-BE49-F238E27FC236}">
                <a16:creationId xmlns:a16="http://schemas.microsoft.com/office/drawing/2014/main" id="{55F8BA08-3E38-4B70-B93A-74F08E0922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260019"/>
            <a:ext cx="11167447" cy="5933012"/>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22CC238-622F-407D-94BD-D7AEFC2D4415}"/>
              </a:ext>
            </a:extLst>
          </p:cNvPr>
          <p:cNvSpPr>
            <a:spLocks noGrp="1"/>
          </p:cNvSpPr>
          <p:nvPr>
            <p:ph type="title"/>
          </p:nvPr>
        </p:nvSpPr>
        <p:spPr>
          <a:xfrm>
            <a:off x="1045029" y="507160"/>
            <a:ext cx="2993571" cy="5438730"/>
          </a:xfrm>
        </p:spPr>
        <p:txBody>
          <a:bodyPr>
            <a:normAutofit/>
          </a:bodyPr>
          <a:lstStyle/>
          <a:p>
            <a:r>
              <a:rPr lang="en-AU" sz="3200"/>
              <a:t>Assumptions</a:t>
            </a:r>
          </a:p>
        </p:txBody>
      </p:sp>
      <p:sp>
        <p:nvSpPr>
          <p:cNvPr id="43" name="Rectangle 42">
            <a:extLst>
              <a:ext uri="{FF2B5EF4-FFF2-40B4-BE49-F238E27FC236}">
                <a16:creationId xmlns:a16="http://schemas.microsoft.com/office/drawing/2014/main" id="{357F1B33-79AB-4A71-8CEC-4546D709B8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2874481"/>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D532C691-8C43-DBE1-CE08-EAA4B3128247}"/>
              </a:ext>
            </a:extLst>
          </p:cNvPr>
          <p:cNvGraphicFramePr>
            <a:graphicFrameLocks noGrp="1"/>
          </p:cNvGraphicFramePr>
          <p:nvPr>
            <p:ph idx="1"/>
            <p:extLst>
              <p:ext uri="{D42A27DB-BD31-4B8C-83A1-F6EECF244321}">
                <p14:modId xmlns:p14="http://schemas.microsoft.com/office/powerpoint/2010/main" val="358894304"/>
              </p:ext>
            </p:extLst>
          </p:nvPr>
        </p:nvGraphicFramePr>
        <p:xfrm>
          <a:off x="4526280" y="512064"/>
          <a:ext cx="6830568" cy="54406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065598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44AD29B6-BF3B-4407-9E75-52DF8E3B2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1" name="Rectangle 40">
            <a:extLst>
              <a:ext uri="{FF2B5EF4-FFF2-40B4-BE49-F238E27FC236}">
                <a16:creationId xmlns:a16="http://schemas.microsoft.com/office/drawing/2014/main" id="{55F8BA08-3E38-4B70-B93A-74F08E0922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260019"/>
            <a:ext cx="11167447" cy="5933012"/>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F65D589-FBAE-F4F1-2139-C1E272462DEC}"/>
              </a:ext>
            </a:extLst>
          </p:cNvPr>
          <p:cNvSpPr>
            <a:spLocks noGrp="1"/>
          </p:cNvSpPr>
          <p:nvPr>
            <p:ph type="title"/>
          </p:nvPr>
        </p:nvSpPr>
        <p:spPr>
          <a:xfrm>
            <a:off x="1045029" y="507160"/>
            <a:ext cx="2993571" cy="5438730"/>
          </a:xfrm>
        </p:spPr>
        <p:txBody>
          <a:bodyPr>
            <a:normAutofit/>
          </a:bodyPr>
          <a:lstStyle/>
          <a:p>
            <a:r>
              <a:rPr lang="en-AU" sz="3200"/>
              <a:t>Business objectives</a:t>
            </a:r>
          </a:p>
        </p:txBody>
      </p:sp>
      <p:sp>
        <p:nvSpPr>
          <p:cNvPr id="43" name="Rectangle 42">
            <a:extLst>
              <a:ext uri="{FF2B5EF4-FFF2-40B4-BE49-F238E27FC236}">
                <a16:creationId xmlns:a16="http://schemas.microsoft.com/office/drawing/2014/main" id="{357F1B33-79AB-4A71-8CEC-4546D709B8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2874481"/>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035DC18C-FFFF-29D9-BEE8-41A273FB1D33}"/>
              </a:ext>
            </a:extLst>
          </p:cNvPr>
          <p:cNvGraphicFramePr>
            <a:graphicFrameLocks noGrp="1"/>
          </p:cNvGraphicFramePr>
          <p:nvPr>
            <p:ph idx="1"/>
            <p:extLst>
              <p:ext uri="{D42A27DB-BD31-4B8C-83A1-F6EECF244321}">
                <p14:modId xmlns:p14="http://schemas.microsoft.com/office/powerpoint/2010/main" val="2925352578"/>
              </p:ext>
            </p:extLst>
          </p:nvPr>
        </p:nvGraphicFramePr>
        <p:xfrm>
          <a:off x="4526280" y="512064"/>
          <a:ext cx="6830568" cy="54406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397516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50E53AA-17F8-D6DD-7321-61DC95580BE7}"/>
            </a:ext>
          </a:extLst>
        </p:cNvPr>
        <p:cNvGrpSpPr/>
        <p:nvPr/>
      </p:nvGrpSpPr>
      <p:grpSpPr>
        <a:xfrm>
          <a:off x="0" y="0"/>
          <a:ext cx="0" cy="0"/>
          <a:chOff x="0" y="0"/>
          <a:chExt cx="0" cy="0"/>
        </a:xfrm>
      </p:grpSpPr>
      <p:sp useBgFill="1">
        <p:nvSpPr>
          <p:cNvPr id="62" name="Rectangle 61">
            <a:extLst>
              <a:ext uri="{FF2B5EF4-FFF2-40B4-BE49-F238E27FC236}">
                <a16:creationId xmlns:a16="http://schemas.microsoft.com/office/drawing/2014/main" id="{44AD29B6-BF3B-4407-9E75-52DF8E3B2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4" name="Rectangle 63">
            <a:extLst>
              <a:ext uri="{FF2B5EF4-FFF2-40B4-BE49-F238E27FC236}">
                <a16:creationId xmlns:a16="http://schemas.microsoft.com/office/drawing/2014/main" id="{55F8BA08-3E38-4B70-B93A-74F08E0922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260019"/>
            <a:ext cx="11167447" cy="5933012"/>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D069CEB-AB9C-AEB5-6015-5DD34455BC0A}"/>
              </a:ext>
            </a:extLst>
          </p:cNvPr>
          <p:cNvSpPr>
            <a:spLocks noGrp="1"/>
          </p:cNvSpPr>
          <p:nvPr>
            <p:ph type="title"/>
          </p:nvPr>
        </p:nvSpPr>
        <p:spPr>
          <a:xfrm>
            <a:off x="1045029" y="507160"/>
            <a:ext cx="2993571" cy="5438730"/>
          </a:xfrm>
        </p:spPr>
        <p:txBody>
          <a:bodyPr>
            <a:normAutofit/>
          </a:bodyPr>
          <a:lstStyle/>
          <a:p>
            <a:r>
              <a:rPr lang="en-AU" sz="3200"/>
              <a:t>Key KPIs</a:t>
            </a:r>
          </a:p>
        </p:txBody>
      </p:sp>
      <p:sp>
        <p:nvSpPr>
          <p:cNvPr id="66" name="Rectangle 65">
            <a:extLst>
              <a:ext uri="{FF2B5EF4-FFF2-40B4-BE49-F238E27FC236}">
                <a16:creationId xmlns:a16="http://schemas.microsoft.com/office/drawing/2014/main" id="{357F1B33-79AB-4A71-8CEC-4546D709B8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2874481"/>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7" name="Content Placeholder 2">
            <a:extLst>
              <a:ext uri="{FF2B5EF4-FFF2-40B4-BE49-F238E27FC236}">
                <a16:creationId xmlns:a16="http://schemas.microsoft.com/office/drawing/2014/main" id="{5C71AA5A-A578-E249-EFA7-B2419D4F0836}"/>
              </a:ext>
            </a:extLst>
          </p:cNvPr>
          <p:cNvGraphicFramePr>
            <a:graphicFrameLocks noGrp="1"/>
          </p:cNvGraphicFramePr>
          <p:nvPr>
            <p:ph idx="1"/>
            <p:extLst>
              <p:ext uri="{D42A27DB-BD31-4B8C-83A1-F6EECF244321}">
                <p14:modId xmlns:p14="http://schemas.microsoft.com/office/powerpoint/2010/main" val="3258618489"/>
              </p:ext>
            </p:extLst>
          </p:nvPr>
        </p:nvGraphicFramePr>
        <p:xfrm>
          <a:off x="4526280" y="512064"/>
          <a:ext cx="6830568" cy="54406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808667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7" name="Arc 56">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A6E7CB9-E1AF-C110-5AC2-FB1AB0E8C9E0}"/>
              </a:ext>
            </a:extLst>
          </p:cNvPr>
          <p:cNvSpPr>
            <a:spLocks noGrp="1"/>
          </p:cNvSpPr>
          <p:nvPr>
            <p:ph type="title"/>
          </p:nvPr>
        </p:nvSpPr>
        <p:spPr>
          <a:xfrm>
            <a:off x="5894962" y="479493"/>
            <a:ext cx="5458838" cy="1325563"/>
          </a:xfrm>
        </p:spPr>
        <p:txBody>
          <a:bodyPr>
            <a:normAutofit/>
          </a:bodyPr>
          <a:lstStyle/>
          <a:p>
            <a:r>
              <a:rPr lang="en-AU"/>
              <a:t>Key findings</a:t>
            </a:r>
          </a:p>
        </p:txBody>
      </p:sp>
      <p:sp>
        <p:nvSpPr>
          <p:cNvPr id="62" name="Freeform: Shape 61">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 name="Picture 6">
            <a:extLst>
              <a:ext uri="{FF2B5EF4-FFF2-40B4-BE49-F238E27FC236}">
                <a16:creationId xmlns:a16="http://schemas.microsoft.com/office/drawing/2014/main" id="{DDE1725B-C7F1-7019-49D2-9CD4E39375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27007" y="511293"/>
            <a:ext cx="1529731" cy="5665670"/>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graphicFrame>
        <p:nvGraphicFramePr>
          <p:cNvPr id="6" name="Rectangle 1">
            <a:extLst>
              <a:ext uri="{FF2B5EF4-FFF2-40B4-BE49-F238E27FC236}">
                <a16:creationId xmlns:a16="http://schemas.microsoft.com/office/drawing/2014/main" id="{C2455730-C5E5-1162-0D20-E2ACEE297A1E}"/>
              </a:ext>
            </a:extLst>
          </p:cNvPr>
          <p:cNvGraphicFramePr>
            <a:graphicFrameLocks noGrp="1"/>
          </p:cNvGraphicFramePr>
          <p:nvPr>
            <p:ph idx="1"/>
            <p:extLst>
              <p:ext uri="{D42A27DB-BD31-4B8C-83A1-F6EECF244321}">
                <p14:modId xmlns:p14="http://schemas.microsoft.com/office/powerpoint/2010/main" val="1740850272"/>
              </p:ext>
            </p:extLst>
          </p:nvPr>
        </p:nvGraphicFramePr>
        <p:xfrm>
          <a:off x="5894962" y="1984443"/>
          <a:ext cx="5458838" cy="41925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906690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17891482-C38A-4F0C-8183-0121632F0E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1BC0CC1-67BC-94BF-6A99-95562D5359D0}"/>
              </a:ext>
            </a:extLst>
          </p:cNvPr>
          <p:cNvSpPr>
            <a:spLocks noGrp="1"/>
          </p:cNvSpPr>
          <p:nvPr>
            <p:ph type="title"/>
          </p:nvPr>
        </p:nvSpPr>
        <p:spPr>
          <a:xfrm>
            <a:off x="5430129" y="486184"/>
            <a:ext cx="6118403" cy="1325563"/>
          </a:xfrm>
        </p:spPr>
        <p:txBody>
          <a:bodyPr>
            <a:normAutofit/>
          </a:bodyPr>
          <a:lstStyle/>
          <a:p>
            <a:r>
              <a:rPr lang="en-AU"/>
              <a:t>Insights and Patterns</a:t>
            </a:r>
          </a:p>
        </p:txBody>
      </p:sp>
      <p:pic>
        <p:nvPicPr>
          <p:cNvPr id="9" name="Picture 8">
            <a:extLst>
              <a:ext uri="{FF2B5EF4-FFF2-40B4-BE49-F238E27FC236}">
                <a16:creationId xmlns:a16="http://schemas.microsoft.com/office/drawing/2014/main" id="{26D4202F-38D1-682F-7FAC-2E6ED5A1AC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0428" y="168731"/>
            <a:ext cx="5298404" cy="3086098"/>
          </a:xfrm>
          <a:custGeom>
            <a:avLst/>
            <a:gdLst/>
            <a:ahLst/>
            <a:cxnLst/>
            <a:rect l="l" t="t" r="r" b="b"/>
            <a:pathLst>
              <a:path w="4114800" h="5712488">
                <a:moveTo>
                  <a:pt x="133155" y="0"/>
                </a:moveTo>
                <a:lnTo>
                  <a:pt x="3981645" y="0"/>
                </a:lnTo>
                <a:cubicBezTo>
                  <a:pt x="4055184" y="0"/>
                  <a:pt x="4114800" y="59616"/>
                  <a:pt x="4114800" y="133155"/>
                </a:cubicBezTo>
                <a:lnTo>
                  <a:pt x="4114800" y="5579333"/>
                </a:lnTo>
                <a:cubicBezTo>
                  <a:pt x="4114800" y="5652872"/>
                  <a:pt x="4055184" y="5712488"/>
                  <a:pt x="3981645" y="5712488"/>
                </a:cubicBezTo>
                <a:lnTo>
                  <a:pt x="133155" y="5712488"/>
                </a:lnTo>
                <a:cubicBezTo>
                  <a:pt x="59616" y="5712488"/>
                  <a:pt x="0" y="5652872"/>
                  <a:pt x="0" y="5579333"/>
                </a:cubicBezTo>
                <a:lnTo>
                  <a:pt x="0" y="133155"/>
                </a:lnTo>
                <a:cubicBezTo>
                  <a:pt x="0" y="59616"/>
                  <a:pt x="59616" y="0"/>
                  <a:pt x="133155" y="0"/>
                </a:cubicBezTo>
                <a:close/>
              </a:path>
            </a:pathLst>
          </a:custGeom>
        </p:spPr>
      </p:pic>
      <p:pic>
        <p:nvPicPr>
          <p:cNvPr id="7" name="Picture 6">
            <a:extLst>
              <a:ext uri="{FF2B5EF4-FFF2-40B4-BE49-F238E27FC236}">
                <a16:creationId xmlns:a16="http://schemas.microsoft.com/office/drawing/2014/main" id="{7D56110B-F330-5C07-1C7C-00B9B96773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0428" y="3429000"/>
            <a:ext cx="5089509" cy="2850124"/>
          </a:xfrm>
          <a:custGeom>
            <a:avLst/>
            <a:gdLst/>
            <a:ahLst/>
            <a:cxnLst/>
            <a:rect l="l" t="t" r="r" b="b"/>
            <a:pathLst>
              <a:path w="4114800" h="5712488">
                <a:moveTo>
                  <a:pt x="133155" y="0"/>
                </a:moveTo>
                <a:lnTo>
                  <a:pt x="3981645" y="0"/>
                </a:lnTo>
                <a:cubicBezTo>
                  <a:pt x="4055184" y="0"/>
                  <a:pt x="4114800" y="59616"/>
                  <a:pt x="4114800" y="133155"/>
                </a:cubicBezTo>
                <a:lnTo>
                  <a:pt x="4114800" y="5579333"/>
                </a:lnTo>
                <a:cubicBezTo>
                  <a:pt x="4114800" y="5652872"/>
                  <a:pt x="4055184" y="5712488"/>
                  <a:pt x="3981645" y="5712488"/>
                </a:cubicBezTo>
                <a:lnTo>
                  <a:pt x="133155" y="5712488"/>
                </a:lnTo>
                <a:cubicBezTo>
                  <a:pt x="59616" y="5712488"/>
                  <a:pt x="0" y="5652872"/>
                  <a:pt x="0" y="5579333"/>
                </a:cubicBezTo>
                <a:lnTo>
                  <a:pt x="0" y="133155"/>
                </a:lnTo>
                <a:cubicBezTo>
                  <a:pt x="0" y="59616"/>
                  <a:pt x="59616" y="0"/>
                  <a:pt x="133155" y="0"/>
                </a:cubicBezTo>
                <a:close/>
              </a:path>
            </a:pathLst>
          </a:custGeom>
        </p:spPr>
      </p:pic>
      <p:sp>
        <p:nvSpPr>
          <p:cNvPr id="42" name="Arc 41">
            <a:extLst>
              <a:ext uri="{FF2B5EF4-FFF2-40B4-BE49-F238E27FC236}">
                <a16:creationId xmlns:a16="http://schemas.microsoft.com/office/drawing/2014/main" id="{DA4B6E73-2318-4814-8EB1-306D537236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064111">
            <a:off x="-991925" y="5644752"/>
            <a:ext cx="2987899" cy="2987899"/>
          </a:xfrm>
          <a:prstGeom prst="arc">
            <a:avLst>
              <a:gd name="adj1" fmla="val 16200000"/>
              <a:gd name="adj2" fmla="val 21581479"/>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aphicFrame>
        <p:nvGraphicFramePr>
          <p:cNvPr id="6" name="Rectangle 1">
            <a:extLst>
              <a:ext uri="{FF2B5EF4-FFF2-40B4-BE49-F238E27FC236}">
                <a16:creationId xmlns:a16="http://schemas.microsoft.com/office/drawing/2014/main" id="{B7D9D009-DD6D-F454-CA41-65D272A6AE8B}"/>
              </a:ext>
            </a:extLst>
          </p:cNvPr>
          <p:cNvGraphicFramePr>
            <a:graphicFrameLocks noGrp="1"/>
          </p:cNvGraphicFramePr>
          <p:nvPr>
            <p:ph idx="1"/>
            <p:extLst>
              <p:ext uri="{D42A27DB-BD31-4B8C-83A1-F6EECF244321}">
                <p14:modId xmlns:p14="http://schemas.microsoft.com/office/powerpoint/2010/main" val="249264264"/>
              </p:ext>
            </p:extLst>
          </p:nvPr>
        </p:nvGraphicFramePr>
        <p:xfrm>
          <a:off x="5430129" y="1946684"/>
          <a:ext cx="6118403"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4494228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9A724DBA-D2D9-471E-8ED7-2015DDD950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2E8168-D214-C80B-0E79-20F1A554B9CC}"/>
              </a:ext>
            </a:extLst>
          </p:cNvPr>
          <p:cNvSpPr>
            <a:spLocks noGrp="1"/>
          </p:cNvSpPr>
          <p:nvPr>
            <p:ph type="title"/>
          </p:nvPr>
        </p:nvSpPr>
        <p:spPr>
          <a:xfrm>
            <a:off x="7239014" y="525982"/>
            <a:ext cx="4282983" cy="1200361"/>
          </a:xfrm>
        </p:spPr>
        <p:txBody>
          <a:bodyPr anchor="b">
            <a:normAutofit/>
          </a:bodyPr>
          <a:lstStyle/>
          <a:p>
            <a:r>
              <a:rPr lang="en-AU" sz="3600"/>
              <a:t>Recommendations-</a:t>
            </a:r>
            <a:br>
              <a:rPr lang="en-AU" sz="3600"/>
            </a:br>
            <a:r>
              <a:rPr lang="en-AU" sz="3600"/>
              <a:t>Short term Strategies</a:t>
            </a:r>
          </a:p>
        </p:txBody>
      </p:sp>
      <p:sp>
        <p:nvSpPr>
          <p:cNvPr id="42" name="Rectangle 41">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4641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0234"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2C4C37D0-3CF6-58AE-B925-18B3CC9E58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6823" y="821273"/>
            <a:ext cx="6231794" cy="4474028"/>
          </a:xfrm>
          <a:prstGeom prst="rect">
            <a:avLst/>
          </a:prstGeom>
        </p:spPr>
      </p:pic>
      <p:sp>
        <p:nvSpPr>
          <p:cNvPr id="46" name="Rectangle 45">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277786"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677179"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Rectangle 1">
            <a:extLst>
              <a:ext uri="{FF2B5EF4-FFF2-40B4-BE49-F238E27FC236}">
                <a16:creationId xmlns:a16="http://schemas.microsoft.com/office/drawing/2014/main" id="{A19955B9-975B-08A4-88BF-C92F8DE5EC0B}"/>
              </a:ext>
            </a:extLst>
          </p:cNvPr>
          <p:cNvGraphicFramePr>
            <a:graphicFrameLocks noGrp="1"/>
          </p:cNvGraphicFramePr>
          <p:nvPr>
            <p:ph idx="1"/>
            <p:extLst>
              <p:ext uri="{D42A27DB-BD31-4B8C-83A1-F6EECF244321}">
                <p14:modId xmlns:p14="http://schemas.microsoft.com/office/powerpoint/2010/main" val="2397657917"/>
              </p:ext>
            </p:extLst>
          </p:nvPr>
        </p:nvGraphicFramePr>
        <p:xfrm>
          <a:off x="7239012" y="2031101"/>
          <a:ext cx="4282984" cy="351194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672305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C541B88-1AE9-40C3-AFD5-967787C19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E5F17139-31EE-46AC-B04F-DBBD852DD6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89059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91D3E6D-93E8-46B3-D98A-6822485CA83B}"/>
              </a:ext>
            </a:extLst>
          </p:cNvPr>
          <p:cNvSpPr>
            <a:spLocks noGrp="1"/>
          </p:cNvSpPr>
          <p:nvPr>
            <p:ph type="title"/>
          </p:nvPr>
        </p:nvSpPr>
        <p:spPr>
          <a:xfrm>
            <a:off x="838200" y="1195697"/>
            <a:ext cx="3200400" cy="4238118"/>
          </a:xfrm>
        </p:spPr>
        <p:txBody>
          <a:bodyPr>
            <a:normAutofit/>
          </a:bodyPr>
          <a:lstStyle/>
          <a:p>
            <a:r>
              <a:rPr lang="en-AU" sz="2800">
                <a:solidFill>
                  <a:schemeClr val="bg1"/>
                </a:solidFill>
              </a:rPr>
              <a:t>Recommendations-</a:t>
            </a:r>
            <a:br>
              <a:rPr lang="en-AU" sz="2800">
                <a:solidFill>
                  <a:schemeClr val="bg1"/>
                </a:solidFill>
              </a:rPr>
            </a:br>
            <a:r>
              <a:rPr lang="en-AU" sz="2800">
                <a:solidFill>
                  <a:schemeClr val="bg1"/>
                </a:solidFill>
              </a:rPr>
              <a:t>Long term Strategies</a:t>
            </a:r>
          </a:p>
        </p:txBody>
      </p:sp>
      <p:grpSp>
        <p:nvGrpSpPr>
          <p:cNvPr id="14" name="Graphic 38">
            <a:extLst>
              <a:ext uri="{FF2B5EF4-FFF2-40B4-BE49-F238E27FC236}">
                <a16:creationId xmlns:a16="http://schemas.microsoft.com/office/drawing/2014/main" id="{7CF625D3-71A3-4F30-A096-8EF334E959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2912"/>
            <a:ext cx="1910252" cy="709660"/>
            <a:chOff x="2267504" y="2540250"/>
            <a:chExt cx="1990951" cy="739640"/>
          </a:xfrm>
          <a:solidFill>
            <a:schemeClr val="bg1"/>
          </a:solidFill>
        </p:grpSpPr>
        <p:sp>
          <p:nvSpPr>
            <p:cNvPr id="15" name="Freeform: Shape 14">
              <a:extLst>
                <a:ext uri="{FF2B5EF4-FFF2-40B4-BE49-F238E27FC236}">
                  <a16:creationId xmlns:a16="http://schemas.microsoft.com/office/drawing/2014/main" id="{C6754E2F-F56E-4BA3-99DD-8EBF110E34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16" name="Freeform: Shape 15">
              <a:extLst>
                <a:ext uri="{FF2B5EF4-FFF2-40B4-BE49-F238E27FC236}">
                  <a16:creationId xmlns:a16="http://schemas.microsoft.com/office/drawing/2014/main" id="{24A69059-7C49-49C6-B071-F2A9B558E0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sp>
        <p:nvSpPr>
          <p:cNvPr id="18" name="Oval 17">
            <a:extLst>
              <a:ext uri="{FF2B5EF4-FFF2-40B4-BE49-F238E27FC236}">
                <a16:creationId xmlns:a16="http://schemas.microsoft.com/office/drawing/2014/main" id="{89D16701-DA76-4F72-BB63-E2C3FFBDFE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60" y="4752208"/>
            <a:ext cx="365021"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0" name="Oval 19">
            <a:extLst>
              <a:ext uri="{FF2B5EF4-FFF2-40B4-BE49-F238E27FC236}">
                <a16:creationId xmlns:a16="http://schemas.microsoft.com/office/drawing/2014/main" id="{1CC28BE1-9DC6-43FE-9582-39F091098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60" y="4752208"/>
            <a:ext cx="365021" cy="365021"/>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2" name="Graphic 4">
            <a:extLst>
              <a:ext uri="{FF2B5EF4-FFF2-40B4-BE49-F238E27FC236}">
                <a16:creationId xmlns:a16="http://schemas.microsoft.com/office/drawing/2014/main" id="{AF9AF3F3-CE0C-4125-BDD7-346487FA0B4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09667" y="5539935"/>
            <a:ext cx="975169" cy="975171"/>
            <a:chOff x="5829300" y="3162300"/>
            <a:chExt cx="532256" cy="532257"/>
          </a:xfrm>
          <a:solidFill>
            <a:schemeClr val="bg1"/>
          </a:solidFill>
        </p:grpSpPr>
        <p:sp>
          <p:nvSpPr>
            <p:cNvPr id="23" name="Freeform: Shape 22">
              <a:extLst>
                <a:ext uri="{FF2B5EF4-FFF2-40B4-BE49-F238E27FC236}">
                  <a16:creationId xmlns:a16="http://schemas.microsoft.com/office/drawing/2014/main" id="{B31DFBFA-CF4D-4940-9086-26F83E5C6B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27854033-BD20-4C77-8C5B-048F4B3BD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BC93AA74-BEB3-444F-835B-7AA6ECE61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F00DF1C9-6952-4704-B8B3-95406E18E4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B34783FD-297C-40D2-964B-DBAE4DE28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DE621623-0357-4FD5-A1AC-400501025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024F346E-10A0-458F-A9CA-8C0079472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7937A2F7-01A9-47F3-BED6-B61D998408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5B44DAF8-5073-441A-82E1-180385D35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52B0413D-0E36-4A90-8E6A-9EDC676A60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86059ECF-0D50-48AD-B67A-645EC29D3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B394906F-6BF2-447E-9886-F12708E12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A45EB96B-215A-4EBF-A594-2B08222339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dirty="0"/>
            </a:p>
          </p:txBody>
        </p:sp>
      </p:grpSp>
      <p:graphicFrame>
        <p:nvGraphicFramePr>
          <p:cNvPr id="6" name="Rectangle 1">
            <a:extLst>
              <a:ext uri="{FF2B5EF4-FFF2-40B4-BE49-F238E27FC236}">
                <a16:creationId xmlns:a16="http://schemas.microsoft.com/office/drawing/2014/main" id="{25E18647-BFC4-C0A2-9257-321BF0E63D7A}"/>
              </a:ext>
            </a:extLst>
          </p:cNvPr>
          <p:cNvGraphicFramePr>
            <a:graphicFrameLocks noGrp="1"/>
          </p:cNvGraphicFramePr>
          <p:nvPr>
            <p:ph idx="1"/>
            <p:extLst>
              <p:ext uri="{D42A27DB-BD31-4B8C-83A1-F6EECF244321}">
                <p14:modId xmlns:p14="http://schemas.microsoft.com/office/powerpoint/2010/main" val="3566191822"/>
              </p:ext>
            </p:extLst>
          </p:nvPr>
        </p:nvGraphicFramePr>
        <p:xfrm>
          <a:off x="5484139" y="477540"/>
          <a:ext cx="6301601" cy="58788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908266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66</TotalTime>
  <Words>635</Words>
  <Application>Microsoft Office PowerPoint</Application>
  <PresentationFormat>Widescreen</PresentationFormat>
  <Paragraphs>32</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Aptos Display</vt:lpstr>
      <vt:lpstr>Arial</vt:lpstr>
      <vt:lpstr>Calibri</vt:lpstr>
      <vt:lpstr>Office Theme</vt:lpstr>
      <vt:lpstr>Amazon</vt:lpstr>
      <vt:lpstr>Assumptions</vt:lpstr>
      <vt:lpstr>Business objectives</vt:lpstr>
      <vt:lpstr>Key KPIs</vt:lpstr>
      <vt:lpstr>Key findings</vt:lpstr>
      <vt:lpstr>Insights and Patterns</vt:lpstr>
      <vt:lpstr>Recommendations- Short term Strategies</vt:lpstr>
      <vt:lpstr>Recommendations- Long term Strategies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sasi kumar</dc:creator>
  <cp:lastModifiedBy>sasi kumar</cp:lastModifiedBy>
  <cp:revision>1</cp:revision>
  <dcterms:created xsi:type="dcterms:W3CDTF">2026-03-08T08:20:56Z</dcterms:created>
  <dcterms:modified xsi:type="dcterms:W3CDTF">2026-03-08T09:27:09Z</dcterms:modified>
</cp:coreProperties>
</file>